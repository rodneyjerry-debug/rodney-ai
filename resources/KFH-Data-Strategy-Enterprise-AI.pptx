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jpeg"/><Relationship Id="rId2" Type="http://schemas.openxmlformats.org/officeDocument/2006/relationships/image" Target="../media/image-10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D1B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0" y="-914400"/>
            <a:ext cx="7315200" cy="7315200"/>
          </a:xfrm>
          <a:prstGeom prst="ellipse">
            <a:avLst/>
          </a:prstGeom>
          <a:solidFill>
            <a:srgbClr val="006B5E">
              <a:alpha val="8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6400800" y="914400"/>
            <a:ext cx="4572000" cy="4572000"/>
          </a:xfrm>
          <a:prstGeom prst="ellipse">
            <a:avLst/>
          </a:prstGeom>
          <a:solidFill>
            <a:srgbClr val="006B5E">
              <a:alpha val="5000"/>
            </a:srgbClr>
          </a:solidFill>
          <a:ln/>
        </p:spPr>
      </p:sp>
      <p:sp>
        <p:nvSpPr>
          <p:cNvPr id="4" name="Text 2"/>
          <p:cNvSpPr/>
          <p:nvPr/>
        </p:nvSpPr>
        <p:spPr>
          <a:xfrm>
            <a:off x="640080" y="457200"/>
            <a:ext cx="3657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F5EDE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Enterprise</a:t>
            </a:r>
            <a:pPr indent="0" marL="0">
              <a:buNone/>
            </a:pPr>
            <a:r>
              <a:rPr lang="en-US" sz="1400" b="1" dirty="0">
                <a:solidFill>
                  <a:srgbClr val="006B5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.AI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640080" y="1645920"/>
            <a:ext cx="6400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F5EDE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KFH Bahrain</a:t>
            </a:r>
            <a:endParaRPr lang="en-US" sz="3600" dirty="0"/>
          </a:p>
        </p:txBody>
      </p:sp>
      <p:sp>
        <p:nvSpPr>
          <p:cNvPr id="6" name="Text 4"/>
          <p:cNvSpPr/>
          <p:nvPr/>
        </p:nvSpPr>
        <p:spPr>
          <a:xfrm>
            <a:off x="640080" y="2286000"/>
            <a:ext cx="64008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Data Remediation &amp;</a:t>
            </a:r>
            <a:endParaRPr lang="en-US" sz="3600" dirty="0"/>
          </a:p>
          <a:p>
            <a:pPr indent="0" marL="0">
              <a:buNone/>
            </a:pPr>
            <a:r>
              <a:rPr lang="en-US" sz="3600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Transformation</a:t>
            </a:r>
            <a:endParaRPr lang="en-US" sz="3600" dirty="0"/>
          </a:p>
        </p:txBody>
      </p:sp>
      <p:sp>
        <p:nvSpPr>
          <p:cNvPr id="7" name="Shape 5"/>
          <p:cNvSpPr/>
          <p:nvPr/>
        </p:nvSpPr>
        <p:spPr>
          <a:xfrm>
            <a:off x="640080" y="3383280"/>
            <a:ext cx="1097280" cy="0"/>
          </a:xfrm>
          <a:prstGeom prst="line">
            <a:avLst/>
          </a:prstGeom>
          <a:noFill/>
          <a:ln w="38100">
            <a:solidFill>
              <a:srgbClr val="006B5E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640080" y="3611880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A6B7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Discussion Paper  |  Confidential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640080" y="3931920"/>
            <a:ext cx="27432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A6B7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May 2026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0" y="4800600"/>
            <a:ext cx="9144000" cy="342900"/>
          </a:xfrm>
          <a:prstGeom prst="rect">
            <a:avLst/>
          </a:prstGeom>
          <a:solidFill>
            <a:srgbClr val="006B5E">
              <a:alpha val="30000"/>
            </a:srgbClr>
          </a:solidFill>
          <a:ln/>
        </p:spPr>
      </p:sp>
      <p:sp>
        <p:nvSpPr>
          <p:cNvPr id="11" name="Text 9"/>
          <p:cNvSpPr/>
          <p:nvPr/>
        </p:nvSpPr>
        <p:spPr>
          <a:xfrm>
            <a:off x="0" y="4800600"/>
            <a:ext cx="9144000" cy="3429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spc="400" kern="0" dirty="0">
                <a:solidFill>
                  <a:srgbClr val="F5EDE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SCALE  ·  GOVERN  ·  UNLOCK</a:t>
            </a:r>
            <a:endParaRPr lang="en-US" sz="9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AF6F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320040"/>
          </a:xfrm>
          <a:prstGeom prst="rect">
            <a:avLst/>
          </a:prstGeom>
          <a:solidFill>
            <a:srgbClr val="0D1B2A"/>
          </a:solidFill>
          <a:ln/>
        </p:spPr>
      </p:sp>
      <p:sp>
        <p:nvSpPr>
          <p:cNvPr id="3" name="Text 1"/>
          <p:cNvSpPr/>
          <p:nvPr/>
        </p:nvSpPr>
        <p:spPr>
          <a:xfrm>
            <a:off x="0" y="0"/>
            <a:ext cx="9144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spc="300" kern="0" dirty="0">
                <a:solidFill>
                  <a:srgbClr val="F5EDE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CONFIDENTIAL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640080" y="50292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spc="300" kern="0" dirty="0">
                <a:solidFill>
                  <a:srgbClr val="006B5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SITUATION</a:t>
            </a:r>
            <a:endParaRPr lang="en-US" sz="900" dirty="0"/>
          </a:p>
        </p:txBody>
      </p:sp>
      <p:sp>
        <p:nvSpPr>
          <p:cNvPr id="5" name="Shape 3"/>
          <p:cNvSpPr/>
          <p:nvPr/>
        </p:nvSpPr>
        <p:spPr>
          <a:xfrm>
            <a:off x="640080" y="777240"/>
            <a:ext cx="548640" cy="0"/>
          </a:xfrm>
          <a:prstGeom prst="line">
            <a:avLst/>
          </a:prstGeom>
          <a:noFill/>
          <a:ln w="25400">
            <a:solidFill>
              <a:srgbClr val="006B5E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640080" y="868680"/>
            <a:ext cx="78638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D1B2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Why data programmes stall — and what to do about it</a:t>
            </a:r>
            <a:endParaRPr lang="en-US" sz="2200" dirty="0"/>
          </a:p>
        </p:txBody>
      </p:sp>
      <p:sp>
        <p:nvSpPr>
          <p:cNvPr id="7" name="Shape 5"/>
          <p:cNvSpPr/>
          <p:nvPr/>
        </p:nvSpPr>
        <p:spPr>
          <a:xfrm>
            <a:off x="0" y="4800600"/>
            <a:ext cx="9144000" cy="342900"/>
          </a:xfrm>
          <a:prstGeom prst="rect">
            <a:avLst/>
          </a:prstGeom>
          <a:solidFill>
            <a:srgbClr val="0D1B2A"/>
          </a:solidFill>
          <a:ln/>
        </p:spPr>
      </p:sp>
      <p:sp>
        <p:nvSpPr>
          <p:cNvPr id="8" name="Text 6"/>
          <p:cNvSpPr/>
          <p:nvPr/>
        </p:nvSpPr>
        <p:spPr>
          <a:xfrm>
            <a:off x="457200" y="4800600"/>
            <a:ext cx="3657600" cy="3429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00897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Enterprise.AI</a:t>
            </a:r>
            <a:endParaRPr lang="en-US" sz="800" dirty="0"/>
          </a:p>
        </p:txBody>
      </p:sp>
      <p:sp>
        <p:nvSpPr>
          <p:cNvPr id="9" name="Text 7"/>
          <p:cNvSpPr/>
          <p:nvPr/>
        </p:nvSpPr>
        <p:spPr>
          <a:xfrm>
            <a:off x="8229600" y="4800600"/>
            <a:ext cx="457200" cy="3429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F5EDE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640080" y="1554480"/>
            <a:ext cx="78638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40000"/>
              </a:lnSpc>
              <a:buNone/>
            </a:pPr>
            <a:r>
              <a:rPr lang="en-US" sz="1200" dirty="0">
                <a:solidFill>
                  <a:srgbClr val="5A6B7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KFH has invested significantly in data capabilities. Despite this, the programme has not delivered the business outcomes expected. This is not unusual — industry-wide, data initiatives fail at a high rate. The root causes are predictable and fixable.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640080" y="2240280"/>
            <a:ext cx="3749040" cy="109728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10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640080" y="2240280"/>
            <a:ext cx="54864" cy="1097280"/>
          </a:xfrm>
          <a:prstGeom prst="rect">
            <a:avLst/>
          </a:prstGeom>
          <a:solidFill>
            <a:srgbClr val="C0392B"/>
          </a:solidFill>
          <a:ln/>
        </p:spPr>
      </p:sp>
      <p:sp>
        <p:nvSpPr>
          <p:cNvPr id="13" name="Text 11"/>
          <p:cNvSpPr/>
          <p:nvPr/>
        </p:nvSpPr>
        <p:spPr>
          <a:xfrm>
            <a:off x="868680" y="2331720"/>
            <a:ext cx="33832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D1B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Business Misalignment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868680" y="2606040"/>
            <a:ext cx="33832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900" dirty="0">
                <a:solidFill>
                  <a:srgbClr val="5A6B7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Data initiatives not anchored to revenue, risk, or regulatory priorities. Too many workstreams solving problems the business hasn't asked for.</a:t>
            </a:r>
            <a:endParaRPr lang="en-US" sz="900" dirty="0"/>
          </a:p>
        </p:txBody>
      </p:sp>
      <p:sp>
        <p:nvSpPr>
          <p:cNvPr id="15" name="Shape 13"/>
          <p:cNvSpPr/>
          <p:nvPr/>
        </p:nvSpPr>
        <p:spPr>
          <a:xfrm>
            <a:off x="4754880" y="2240280"/>
            <a:ext cx="3749040" cy="109728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10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4754880" y="2240280"/>
            <a:ext cx="54864" cy="1097280"/>
          </a:xfrm>
          <a:prstGeom prst="rect">
            <a:avLst/>
          </a:prstGeom>
          <a:solidFill>
            <a:srgbClr val="C0392B"/>
          </a:solidFill>
          <a:ln/>
        </p:spPr>
      </p:sp>
      <p:sp>
        <p:nvSpPr>
          <p:cNvPr id="17" name="Text 15"/>
          <p:cNvSpPr/>
          <p:nvPr/>
        </p:nvSpPr>
        <p:spPr>
          <a:xfrm>
            <a:off x="4983480" y="2331720"/>
            <a:ext cx="33832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D1B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Overly Complex Delivery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4983480" y="2606040"/>
            <a:ext cx="33832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900" dirty="0">
                <a:solidFill>
                  <a:srgbClr val="5A6B7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Programmes try to boil the ocean. Long lead times, delayed benefits, eroding stakeholder confidence. Data maturity is a journey — not a big bang.</a:t>
            </a:r>
            <a:endParaRPr lang="en-US" sz="900" dirty="0"/>
          </a:p>
        </p:txBody>
      </p:sp>
      <p:sp>
        <p:nvSpPr>
          <p:cNvPr id="19" name="Shape 17"/>
          <p:cNvSpPr/>
          <p:nvPr/>
        </p:nvSpPr>
        <p:spPr>
          <a:xfrm>
            <a:off x="640080" y="3474720"/>
            <a:ext cx="3749040" cy="109728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10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640080" y="3474720"/>
            <a:ext cx="54864" cy="1097280"/>
          </a:xfrm>
          <a:prstGeom prst="rect">
            <a:avLst/>
          </a:prstGeom>
          <a:solidFill>
            <a:srgbClr val="C0392B"/>
          </a:solidFill>
          <a:ln/>
        </p:spPr>
      </p:sp>
      <p:sp>
        <p:nvSpPr>
          <p:cNvPr id="21" name="Text 19"/>
          <p:cNvSpPr/>
          <p:nvPr/>
        </p:nvSpPr>
        <p:spPr>
          <a:xfrm>
            <a:off x="868680" y="3566160"/>
            <a:ext cx="33832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D1B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Unclear Ownership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868680" y="3840480"/>
            <a:ext cx="33832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900" dirty="0">
                <a:solidFill>
                  <a:srgbClr val="5A6B7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Accountability fragmented across business, technology, risk, and compliance. No single point of decision-making. Governance without teeth.</a:t>
            </a:r>
            <a:endParaRPr lang="en-US" sz="900" dirty="0"/>
          </a:p>
        </p:txBody>
      </p:sp>
      <p:sp>
        <p:nvSpPr>
          <p:cNvPr id="23" name="Shape 21"/>
          <p:cNvSpPr/>
          <p:nvPr/>
        </p:nvSpPr>
        <p:spPr>
          <a:xfrm>
            <a:off x="4754880" y="3474720"/>
            <a:ext cx="3749040" cy="109728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10000"/>
              </a:srgbClr>
            </a:outerShdw>
          </a:effectLst>
        </p:spPr>
      </p:sp>
      <p:sp>
        <p:nvSpPr>
          <p:cNvPr id="24" name="Shape 22"/>
          <p:cNvSpPr/>
          <p:nvPr/>
        </p:nvSpPr>
        <p:spPr>
          <a:xfrm>
            <a:off x="4754880" y="3474720"/>
            <a:ext cx="54864" cy="1097280"/>
          </a:xfrm>
          <a:prstGeom prst="rect">
            <a:avLst/>
          </a:prstGeom>
          <a:solidFill>
            <a:srgbClr val="C0392B"/>
          </a:solidFill>
          <a:ln/>
        </p:spPr>
      </p:sp>
      <p:sp>
        <p:nvSpPr>
          <p:cNvPr id="25" name="Text 23"/>
          <p:cNvSpPr/>
          <p:nvPr/>
        </p:nvSpPr>
        <p:spPr>
          <a:xfrm>
            <a:off x="4983480" y="3566160"/>
            <a:ext cx="33832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D1B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Limited Adoption</a:t>
            </a:r>
            <a:endParaRPr lang="en-US" sz="1100" dirty="0"/>
          </a:p>
        </p:txBody>
      </p:sp>
      <p:sp>
        <p:nvSpPr>
          <p:cNvPr id="26" name="Text 24"/>
          <p:cNvSpPr/>
          <p:nvPr/>
        </p:nvSpPr>
        <p:spPr>
          <a:xfrm>
            <a:off x="4983480" y="3840480"/>
            <a:ext cx="33832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900" dirty="0">
                <a:solidFill>
                  <a:srgbClr val="5A6B7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Data products built but not used. Low literacy, no champions, no feedback loops. Benefits evaporate without sustained business engagement.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AF6F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320040"/>
          </a:xfrm>
          <a:prstGeom prst="rect">
            <a:avLst/>
          </a:prstGeom>
          <a:solidFill>
            <a:srgbClr val="0D1B2A"/>
          </a:solidFill>
          <a:ln/>
        </p:spPr>
      </p:sp>
      <p:sp>
        <p:nvSpPr>
          <p:cNvPr id="3" name="Text 1"/>
          <p:cNvSpPr/>
          <p:nvPr/>
        </p:nvSpPr>
        <p:spPr>
          <a:xfrm>
            <a:off x="0" y="0"/>
            <a:ext cx="9144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spc="300" kern="0" dirty="0">
                <a:solidFill>
                  <a:srgbClr val="F5EDE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CONFIDENTIAL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640080" y="50292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spc="300" kern="0" dirty="0">
                <a:solidFill>
                  <a:srgbClr val="006B5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OUR APPROACH</a:t>
            </a:r>
            <a:endParaRPr lang="en-US" sz="900" dirty="0"/>
          </a:p>
        </p:txBody>
      </p:sp>
      <p:sp>
        <p:nvSpPr>
          <p:cNvPr id="5" name="Shape 3"/>
          <p:cNvSpPr/>
          <p:nvPr/>
        </p:nvSpPr>
        <p:spPr>
          <a:xfrm>
            <a:off x="640080" y="777240"/>
            <a:ext cx="548640" cy="0"/>
          </a:xfrm>
          <a:prstGeom prst="line">
            <a:avLst/>
          </a:prstGeom>
          <a:noFill/>
          <a:ln w="25400">
            <a:solidFill>
              <a:srgbClr val="006B5E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640080" y="868680"/>
            <a:ext cx="78638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D1B2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How we restore delivery confidence</a:t>
            </a:r>
            <a:endParaRPr lang="en-US" sz="2200" dirty="0"/>
          </a:p>
        </p:txBody>
      </p:sp>
      <p:sp>
        <p:nvSpPr>
          <p:cNvPr id="7" name="Shape 5"/>
          <p:cNvSpPr/>
          <p:nvPr/>
        </p:nvSpPr>
        <p:spPr>
          <a:xfrm>
            <a:off x="0" y="4800600"/>
            <a:ext cx="9144000" cy="342900"/>
          </a:xfrm>
          <a:prstGeom prst="rect">
            <a:avLst/>
          </a:prstGeom>
          <a:solidFill>
            <a:srgbClr val="0D1B2A"/>
          </a:solidFill>
          <a:ln/>
        </p:spPr>
      </p:sp>
      <p:sp>
        <p:nvSpPr>
          <p:cNvPr id="8" name="Text 6"/>
          <p:cNvSpPr/>
          <p:nvPr/>
        </p:nvSpPr>
        <p:spPr>
          <a:xfrm>
            <a:off x="457200" y="4800600"/>
            <a:ext cx="3657600" cy="3429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00897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Enterprise.AI</a:t>
            </a:r>
            <a:endParaRPr lang="en-US" sz="800" dirty="0"/>
          </a:p>
        </p:txBody>
      </p:sp>
      <p:sp>
        <p:nvSpPr>
          <p:cNvPr id="9" name="Text 7"/>
          <p:cNvSpPr/>
          <p:nvPr/>
        </p:nvSpPr>
        <p:spPr>
          <a:xfrm>
            <a:off x="8229600" y="4800600"/>
            <a:ext cx="457200" cy="3429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F5EDE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640080" y="1463040"/>
            <a:ext cx="78638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5A6B7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We establish a fact-based view of programme health — assessing whether each initiative is solving the right problem, whether the solution is fit for purpose, and whether the organisation can deliver and sustain the outcome.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640080" y="2103120"/>
            <a:ext cx="1508760" cy="246888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10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640080" y="2103120"/>
            <a:ext cx="1508760" cy="54864"/>
          </a:xfrm>
          <a:prstGeom prst="rect">
            <a:avLst/>
          </a:prstGeom>
          <a:solidFill>
            <a:srgbClr val="006B5E"/>
          </a:solidFill>
          <a:ln/>
        </p:spPr>
      </p:sp>
      <p:sp>
        <p:nvSpPr>
          <p:cNvPr id="13" name="Text 11"/>
          <p:cNvSpPr/>
          <p:nvPr/>
        </p:nvSpPr>
        <p:spPr>
          <a:xfrm>
            <a:off x="731520" y="224028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006B5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01</a:t>
            </a:r>
            <a:endParaRPr lang="en-US" sz="2000" dirty="0"/>
          </a:p>
        </p:txBody>
      </p:sp>
      <p:sp>
        <p:nvSpPr>
          <p:cNvPr id="14" name="Text 12"/>
          <p:cNvSpPr/>
          <p:nvPr/>
        </p:nvSpPr>
        <p:spPr>
          <a:xfrm>
            <a:off x="731520" y="2560320"/>
            <a:ext cx="13258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D1B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Strategic</a:t>
            </a:r>
            <a:endParaRPr lang="en-US" sz="1100" dirty="0"/>
          </a:p>
          <a:p>
            <a:pPr indent="0" marL="0">
              <a:buNone/>
            </a:pPr>
            <a:r>
              <a:rPr lang="en-US" sz="1100" b="1" dirty="0">
                <a:solidFill>
                  <a:srgbClr val="0D1B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Alignment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731520" y="3200400"/>
            <a:ext cx="128016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850" dirty="0">
                <a:solidFill>
                  <a:srgbClr val="5A6B7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Are objectives, priorities, and regulatory expectations still aligned?</a:t>
            </a:r>
            <a:endParaRPr lang="en-US" sz="850" dirty="0"/>
          </a:p>
        </p:txBody>
      </p:sp>
      <p:sp>
        <p:nvSpPr>
          <p:cNvPr id="16" name="Shape 14"/>
          <p:cNvSpPr/>
          <p:nvPr/>
        </p:nvSpPr>
        <p:spPr>
          <a:xfrm>
            <a:off x="2286000" y="2103120"/>
            <a:ext cx="1508760" cy="246888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10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2286000" y="2103120"/>
            <a:ext cx="1508760" cy="54864"/>
          </a:xfrm>
          <a:prstGeom prst="rect">
            <a:avLst/>
          </a:prstGeom>
          <a:solidFill>
            <a:srgbClr val="006B5E"/>
          </a:solidFill>
          <a:ln/>
        </p:spPr>
      </p:sp>
      <p:sp>
        <p:nvSpPr>
          <p:cNvPr id="18" name="Text 16"/>
          <p:cNvSpPr/>
          <p:nvPr/>
        </p:nvSpPr>
        <p:spPr>
          <a:xfrm>
            <a:off x="2377440" y="224028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006B5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02</a:t>
            </a:r>
            <a:endParaRPr lang="en-US" sz="2000" dirty="0"/>
          </a:p>
        </p:txBody>
      </p:sp>
      <p:sp>
        <p:nvSpPr>
          <p:cNvPr id="19" name="Text 17"/>
          <p:cNvSpPr/>
          <p:nvPr/>
        </p:nvSpPr>
        <p:spPr>
          <a:xfrm>
            <a:off x="2377440" y="2560320"/>
            <a:ext cx="13258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D1B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Solution</a:t>
            </a:r>
            <a:endParaRPr lang="en-US" sz="1100" dirty="0"/>
          </a:p>
          <a:p>
            <a:pPr indent="0" marL="0">
              <a:buNone/>
            </a:pPr>
            <a:r>
              <a:rPr lang="en-US" sz="1100" b="1" dirty="0">
                <a:solidFill>
                  <a:srgbClr val="0D1B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Effectiveness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2377440" y="3200400"/>
            <a:ext cx="128016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850" dirty="0">
                <a:solidFill>
                  <a:srgbClr val="5A6B7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Can the current design and technology deliver intended outcomes?</a:t>
            </a:r>
            <a:endParaRPr lang="en-US" sz="850" dirty="0"/>
          </a:p>
        </p:txBody>
      </p:sp>
      <p:sp>
        <p:nvSpPr>
          <p:cNvPr id="21" name="Shape 19"/>
          <p:cNvSpPr/>
          <p:nvPr/>
        </p:nvSpPr>
        <p:spPr>
          <a:xfrm>
            <a:off x="3931920" y="2103120"/>
            <a:ext cx="1508760" cy="246888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10000"/>
              </a:srgbClr>
            </a:outerShdw>
          </a:effectLst>
        </p:spPr>
      </p:sp>
      <p:sp>
        <p:nvSpPr>
          <p:cNvPr id="22" name="Shape 20"/>
          <p:cNvSpPr/>
          <p:nvPr/>
        </p:nvSpPr>
        <p:spPr>
          <a:xfrm>
            <a:off x="3931920" y="2103120"/>
            <a:ext cx="1508760" cy="54864"/>
          </a:xfrm>
          <a:prstGeom prst="rect">
            <a:avLst/>
          </a:prstGeom>
          <a:solidFill>
            <a:srgbClr val="006B5E"/>
          </a:solidFill>
          <a:ln/>
        </p:spPr>
      </p:sp>
      <p:sp>
        <p:nvSpPr>
          <p:cNvPr id="23" name="Text 21"/>
          <p:cNvSpPr/>
          <p:nvPr/>
        </p:nvSpPr>
        <p:spPr>
          <a:xfrm>
            <a:off x="4023360" y="224028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006B5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03</a:t>
            </a:r>
            <a:endParaRPr lang="en-US" sz="2000" dirty="0"/>
          </a:p>
        </p:txBody>
      </p:sp>
      <p:sp>
        <p:nvSpPr>
          <p:cNvPr id="24" name="Text 22"/>
          <p:cNvSpPr/>
          <p:nvPr/>
        </p:nvSpPr>
        <p:spPr>
          <a:xfrm>
            <a:off x="4023360" y="2560320"/>
            <a:ext cx="13258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D1B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Delivery</a:t>
            </a:r>
            <a:endParaRPr lang="en-US" sz="1100" dirty="0"/>
          </a:p>
          <a:p>
            <a:pPr indent="0" marL="0">
              <a:buNone/>
            </a:pPr>
            <a:r>
              <a:rPr lang="en-US" sz="1100" b="1" dirty="0">
                <a:solidFill>
                  <a:srgbClr val="0D1B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Confidence</a:t>
            </a:r>
            <a:endParaRPr lang="en-US" sz="1100" dirty="0"/>
          </a:p>
        </p:txBody>
      </p:sp>
      <p:sp>
        <p:nvSpPr>
          <p:cNvPr id="25" name="Text 23"/>
          <p:cNvSpPr/>
          <p:nvPr/>
        </p:nvSpPr>
        <p:spPr>
          <a:xfrm>
            <a:off x="4023360" y="3200400"/>
            <a:ext cx="128016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850" dirty="0">
                <a:solidFill>
                  <a:srgbClr val="5A6B7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Is governance, execution discipline, and resource capability adequate?</a:t>
            </a:r>
            <a:endParaRPr lang="en-US" sz="850" dirty="0"/>
          </a:p>
        </p:txBody>
      </p:sp>
      <p:sp>
        <p:nvSpPr>
          <p:cNvPr id="26" name="Shape 24"/>
          <p:cNvSpPr/>
          <p:nvPr/>
        </p:nvSpPr>
        <p:spPr>
          <a:xfrm>
            <a:off x="5577840" y="2103120"/>
            <a:ext cx="1508760" cy="246888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10000"/>
              </a:srgbClr>
            </a:outerShdw>
          </a:effectLst>
        </p:spPr>
      </p:sp>
      <p:sp>
        <p:nvSpPr>
          <p:cNvPr id="27" name="Shape 25"/>
          <p:cNvSpPr/>
          <p:nvPr/>
        </p:nvSpPr>
        <p:spPr>
          <a:xfrm>
            <a:off x="5577840" y="2103120"/>
            <a:ext cx="1508760" cy="54864"/>
          </a:xfrm>
          <a:prstGeom prst="rect">
            <a:avLst/>
          </a:prstGeom>
          <a:solidFill>
            <a:srgbClr val="006B5E"/>
          </a:solidFill>
          <a:ln/>
        </p:spPr>
      </p:sp>
      <p:sp>
        <p:nvSpPr>
          <p:cNvPr id="28" name="Text 26"/>
          <p:cNvSpPr/>
          <p:nvPr/>
        </p:nvSpPr>
        <p:spPr>
          <a:xfrm>
            <a:off x="5669280" y="224028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006B5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04</a:t>
            </a:r>
            <a:endParaRPr lang="en-US" sz="2000" dirty="0"/>
          </a:p>
        </p:txBody>
      </p:sp>
      <p:sp>
        <p:nvSpPr>
          <p:cNvPr id="29" name="Text 27"/>
          <p:cNvSpPr/>
          <p:nvPr/>
        </p:nvSpPr>
        <p:spPr>
          <a:xfrm>
            <a:off x="5669280" y="2560320"/>
            <a:ext cx="13258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D1B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Ownership &amp;</a:t>
            </a:r>
            <a:endParaRPr lang="en-US" sz="1100" dirty="0"/>
          </a:p>
          <a:p>
            <a:pPr indent="0" marL="0">
              <a:buNone/>
            </a:pPr>
            <a:r>
              <a:rPr lang="en-US" sz="1100" b="1" dirty="0">
                <a:solidFill>
                  <a:srgbClr val="0D1B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Accountability</a:t>
            </a:r>
            <a:endParaRPr lang="en-US" sz="1100" dirty="0"/>
          </a:p>
        </p:txBody>
      </p:sp>
      <p:sp>
        <p:nvSpPr>
          <p:cNvPr id="30" name="Text 28"/>
          <p:cNvSpPr/>
          <p:nvPr/>
        </p:nvSpPr>
        <p:spPr>
          <a:xfrm>
            <a:off x="5669280" y="3200400"/>
            <a:ext cx="128016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850" dirty="0">
                <a:solidFill>
                  <a:srgbClr val="5A6B7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Are decision rights, stakeholder alignment, and funding clear?</a:t>
            </a:r>
            <a:endParaRPr lang="en-US" sz="850" dirty="0"/>
          </a:p>
        </p:txBody>
      </p:sp>
      <p:sp>
        <p:nvSpPr>
          <p:cNvPr id="31" name="Shape 29"/>
          <p:cNvSpPr/>
          <p:nvPr/>
        </p:nvSpPr>
        <p:spPr>
          <a:xfrm>
            <a:off x="7223760" y="2103120"/>
            <a:ext cx="1508760" cy="246888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10000"/>
              </a:srgbClr>
            </a:outerShdw>
          </a:effectLst>
        </p:spPr>
      </p:sp>
      <p:sp>
        <p:nvSpPr>
          <p:cNvPr id="32" name="Shape 30"/>
          <p:cNvSpPr/>
          <p:nvPr/>
        </p:nvSpPr>
        <p:spPr>
          <a:xfrm>
            <a:off x="7223760" y="2103120"/>
            <a:ext cx="1508760" cy="54864"/>
          </a:xfrm>
          <a:prstGeom prst="rect">
            <a:avLst/>
          </a:prstGeom>
          <a:solidFill>
            <a:srgbClr val="006B5E"/>
          </a:solidFill>
          <a:ln/>
        </p:spPr>
      </p:sp>
      <p:sp>
        <p:nvSpPr>
          <p:cNvPr id="33" name="Text 31"/>
          <p:cNvSpPr/>
          <p:nvPr/>
        </p:nvSpPr>
        <p:spPr>
          <a:xfrm>
            <a:off x="7315200" y="224028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006B5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05</a:t>
            </a:r>
            <a:endParaRPr lang="en-US" sz="2000" dirty="0"/>
          </a:p>
        </p:txBody>
      </p:sp>
      <p:sp>
        <p:nvSpPr>
          <p:cNvPr id="34" name="Text 32"/>
          <p:cNvSpPr/>
          <p:nvPr/>
        </p:nvSpPr>
        <p:spPr>
          <a:xfrm>
            <a:off x="7315200" y="2560320"/>
            <a:ext cx="13258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D1B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Business</a:t>
            </a:r>
            <a:endParaRPr lang="en-US" sz="1100" dirty="0"/>
          </a:p>
          <a:p>
            <a:pPr indent="0" marL="0">
              <a:buNone/>
            </a:pPr>
            <a:r>
              <a:rPr lang="en-US" sz="1100" b="1" dirty="0">
                <a:solidFill>
                  <a:srgbClr val="0D1B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Readiness</a:t>
            </a:r>
            <a:endParaRPr lang="en-US" sz="1100" dirty="0"/>
          </a:p>
        </p:txBody>
      </p:sp>
      <p:sp>
        <p:nvSpPr>
          <p:cNvPr id="35" name="Text 33"/>
          <p:cNvSpPr/>
          <p:nvPr/>
        </p:nvSpPr>
        <p:spPr>
          <a:xfrm>
            <a:off x="7315200" y="3200400"/>
            <a:ext cx="128016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850" dirty="0">
                <a:solidFill>
                  <a:srgbClr val="5A6B7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Is the adoption plan in place? Are processes sustainable post-implementation?</a:t>
            </a:r>
            <a:endParaRPr lang="en-US" sz="8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AF6F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320040"/>
          </a:xfrm>
          <a:prstGeom prst="rect">
            <a:avLst/>
          </a:prstGeom>
          <a:solidFill>
            <a:srgbClr val="0D1B2A"/>
          </a:solidFill>
          <a:ln/>
        </p:spPr>
      </p:sp>
      <p:sp>
        <p:nvSpPr>
          <p:cNvPr id="3" name="Text 1"/>
          <p:cNvSpPr/>
          <p:nvPr/>
        </p:nvSpPr>
        <p:spPr>
          <a:xfrm>
            <a:off x="0" y="0"/>
            <a:ext cx="9144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spc="300" kern="0" dirty="0">
                <a:solidFill>
                  <a:srgbClr val="F5EDE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CONFIDENTIAL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640080" y="50292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spc="300" kern="0" dirty="0">
                <a:solidFill>
                  <a:srgbClr val="006B5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DATA STRATEGY</a:t>
            </a:r>
            <a:endParaRPr lang="en-US" sz="900" dirty="0"/>
          </a:p>
        </p:txBody>
      </p:sp>
      <p:sp>
        <p:nvSpPr>
          <p:cNvPr id="5" name="Shape 3"/>
          <p:cNvSpPr/>
          <p:nvPr/>
        </p:nvSpPr>
        <p:spPr>
          <a:xfrm>
            <a:off x="640080" y="777240"/>
            <a:ext cx="548640" cy="0"/>
          </a:xfrm>
          <a:prstGeom prst="line">
            <a:avLst/>
          </a:prstGeom>
          <a:noFill/>
          <a:ln w="25400">
            <a:solidFill>
              <a:srgbClr val="006B5E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640080" y="868680"/>
            <a:ext cx="78638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D1B2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How to unlock value from data</a:t>
            </a:r>
            <a:endParaRPr lang="en-US" sz="2200" dirty="0"/>
          </a:p>
        </p:txBody>
      </p:sp>
      <p:sp>
        <p:nvSpPr>
          <p:cNvPr id="7" name="Shape 5"/>
          <p:cNvSpPr/>
          <p:nvPr/>
        </p:nvSpPr>
        <p:spPr>
          <a:xfrm>
            <a:off x="0" y="4800600"/>
            <a:ext cx="9144000" cy="342900"/>
          </a:xfrm>
          <a:prstGeom prst="rect">
            <a:avLst/>
          </a:prstGeom>
          <a:solidFill>
            <a:srgbClr val="0D1B2A"/>
          </a:solidFill>
          <a:ln/>
        </p:spPr>
      </p:sp>
      <p:sp>
        <p:nvSpPr>
          <p:cNvPr id="8" name="Text 6"/>
          <p:cNvSpPr/>
          <p:nvPr/>
        </p:nvSpPr>
        <p:spPr>
          <a:xfrm>
            <a:off x="457200" y="4800600"/>
            <a:ext cx="3657600" cy="3429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00897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Enterprise.AI</a:t>
            </a:r>
            <a:endParaRPr lang="en-US" sz="800" dirty="0"/>
          </a:p>
        </p:txBody>
      </p:sp>
      <p:sp>
        <p:nvSpPr>
          <p:cNvPr id="9" name="Text 7"/>
          <p:cNvSpPr/>
          <p:nvPr/>
        </p:nvSpPr>
        <p:spPr>
          <a:xfrm>
            <a:off x="8229600" y="4800600"/>
            <a:ext cx="457200" cy="3429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F5EDE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640080" y="1463040"/>
            <a:ext cx="78638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5A6B7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strong data strategy connects business priorities to the data capabilities, technology foundations and operating model required to create sustained value.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640080" y="2011680"/>
            <a:ext cx="1920240" cy="256032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10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640080" y="2011680"/>
            <a:ext cx="1920240" cy="54864"/>
          </a:xfrm>
          <a:prstGeom prst="rect">
            <a:avLst/>
          </a:prstGeom>
          <a:solidFill>
            <a:srgbClr val="006B5E"/>
          </a:solidFill>
          <a:ln/>
        </p:spPr>
      </p:sp>
      <p:sp>
        <p:nvSpPr>
          <p:cNvPr id="13" name="Text 11"/>
          <p:cNvSpPr/>
          <p:nvPr/>
        </p:nvSpPr>
        <p:spPr>
          <a:xfrm>
            <a:off x="777240" y="2194560"/>
            <a:ext cx="1645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D1B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Data Management</a:t>
            </a:r>
            <a:endParaRPr lang="en-US" sz="1100" dirty="0"/>
          </a:p>
          <a:p>
            <a:pPr indent="0" marL="0">
              <a:buNone/>
            </a:pPr>
            <a:r>
              <a:rPr lang="en-US" sz="1100" b="1" dirty="0">
                <a:solidFill>
                  <a:srgbClr val="0D1B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Capabilities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777240" y="2743200"/>
            <a:ext cx="1371600" cy="0"/>
          </a:xfrm>
          <a:prstGeom prst="line">
            <a:avLst/>
          </a:prstGeom>
          <a:noFill/>
          <a:ln w="6350">
            <a:solidFill>
              <a:srgbClr val="D4CBBF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777240" y="2834640"/>
            <a:ext cx="164592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50000"/>
              </a:lnSpc>
              <a:buNone/>
            </a:pPr>
            <a:r>
              <a:rPr lang="en-US" sz="850" dirty="0">
                <a:solidFill>
                  <a:srgbClr val="5A6B7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Data Governance · Classification</a:t>
            </a:r>
            <a:endParaRPr lang="en-US" sz="850" dirty="0"/>
          </a:p>
          <a:p>
            <a:pPr indent="0" marL="0">
              <a:lnSpc>
                <a:spcPct val="150000"/>
              </a:lnSpc>
              <a:buNone/>
            </a:pPr>
            <a:r>
              <a:rPr lang="en-US" sz="850" dirty="0">
                <a:solidFill>
                  <a:srgbClr val="5A6B7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Data Quality · Lineage</a:t>
            </a:r>
            <a:endParaRPr lang="en-US" sz="850" dirty="0"/>
          </a:p>
          <a:p>
            <a:pPr indent="0" marL="0">
              <a:lnSpc>
                <a:spcPct val="150000"/>
              </a:lnSpc>
              <a:buNone/>
            </a:pPr>
            <a:r>
              <a:rPr lang="en-US" sz="850" dirty="0">
                <a:solidFill>
                  <a:srgbClr val="5A6B7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Master &amp; Reference Data</a:t>
            </a:r>
            <a:endParaRPr lang="en-US" sz="850" dirty="0"/>
          </a:p>
          <a:p>
            <a:pPr indent="0" marL="0">
              <a:lnSpc>
                <a:spcPct val="150000"/>
              </a:lnSpc>
              <a:buNone/>
            </a:pPr>
            <a:r>
              <a:rPr lang="en-US" sz="850" dirty="0">
                <a:solidFill>
                  <a:srgbClr val="5A6B7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Privacy &amp; Protection</a:t>
            </a:r>
            <a:endParaRPr lang="en-US" sz="850" dirty="0"/>
          </a:p>
          <a:p>
            <a:pPr indent="0" marL="0">
              <a:lnSpc>
                <a:spcPct val="150000"/>
              </a:lnSpc>
              <a:buNone/>
            </a:pPr>
            <a:r>
              <a:rPr lang="en-US" sz="850" dirty="0">
                <a:solidFill>
                  <a:srgbClr val="5A6B7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Metadata · Data Dictionary</a:t>
            </a:r>
            <a:endParaRPr lang="en-US" sz="850" dirty="0"/>
          </a:p>
        </p:txBody>
      </p:sp>
      <p:sp>
        <p:nvSpPr>
          <p:cNvPr id="16" name="Shape 14"/>
          <p:cNvSpPr/>
          <p:nvPr/>
        </p:nvSpPr>
        <p:spPr>
          <a:xfrm>
            <a:off x="2743200" y="2011680"/>
            <a:ext cx="1920240" cy="256032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10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2743200" y="2011680"/>
            <a:ext cx="1920240" cy="54864"/>
          </a:xfrm>
          <a:prstGeom prst="rect">
            <a:avLst/>
          </a:prstGeom>
          <a:solidFill>
            <a:srgbClr val="1A2D42"/>
          </a:solidFill>
          <a:ln/>
        </p:spPr>
      </p:sp>
      <p:sp>
        <p:nvSpPr>
          <p:cNvPr id="18" name="Text 16"/>
          <p:cNvSpPr/>
          <p:nvPr/>
        </p:nvSpPr>
        <p:spPr>
          <a:xfrm>
            <a:off x="2880360" y="2194560"/>
            <a:ext cx="1645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D1B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Operating</a:t>
            </a:r>
            <a:endParaRPr lang="en-US" sz="1100" dirty="0"/>
          </a:p>
          <a:p>
            <a:pPr indent="0" marL="0">
              <a:buNone/>
            </a:pPr>
            <a:r>
              <a:rPr lang="en-US" sz="1100" b="1" dirty="0">
                <a:solidFill>
                  <a:srgbClr val="0D1B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Model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2880360" y="2743200"/>
            <a:ext cx="1371600" cy="0"/>
          </a:xfrm>
          <a:prstGeom prst="line">
            <a:avLst/>
          </a:prstGeom>
          <a:noFill/>
          <a:ln w="6350">
            <a:solidFill>
              <a:srgbClr val="D4CBBF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2880360" y="2834640"/>
            <a:ext cx="164592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50000"/>
              </a:lnSpc>
              <a:buNone/>
            </a:pPr>
            <a:r>
              <a:rPr lang="en-US" sz="850" dirty="0">
                <a:solidFill>
                  <a:srgbClr val="5A6B7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Roles &amp; Responsibilities</a:t>
            </a:r>
            <a:endParaRPr lang="en-US" sz="850" dirty="0"/>
          </a:p>
          <a:p>
            <a:pPr indent="0" marL="0">
              <a:lnSpc>
                <a:spcPct val="150000"/>
              </a:lnSpc>
              <a:buNone/>
            </a:pPr>
            <a:r>
              <a:rPr lang="en-US" sz="850" dirty="0">
                <a:solidFill>
                  <a:srgbClr val="5A6B7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Steering Committees</a:t>
            </a:r>
            <a:endParaRPr lang="en-US" sz="850" dirty="0"/>
          </a:p>
          <a:p>
            <a:pPr indent="0" marL="0">
              <a:lnSpc>
                <a:spcPct val="150000"/>
              </a:lnSpc>
              <a:buNone/>
            </a:pPr>
            <a:r>
              <a:rPr lang="en-US" sz="850" dirty="0">
                <a:solidFill>
                  <a:srgbClr val="5A6B7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Funding Model</a:t>
            </a:r>
            <a:endParaRPr lang="en-US" sz="850" dirty="0"/>
          </a:p>
          <a:p>
            <a:pPr indent="0" marL="0">
              <a:lnSpc>
                <a:spcPct val="150000"/>
              </a:lnSpc>
              <a:buNone/>
            </a:pPr>
            <a:r>
              <a:rPr lang="en-US" sz="850" dirty="0">
                <a:solidFill>
                  <a:srgbClr val="5A6B7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Process &amp; Controls</a:t>
            </a:r>
            <a:endParaRPr lang="en-US" sz="850" dirty="0"/>
          </a:p>
          <a:p>
            <a:pPr indent="0" marL="0">
              <a:lnSpc>
                <a:spcPct val="150000"/>
              </a:lnSpc>
              <a:buNone/>
            </a:pPr>
            <a:r>
              <a:rPr lang="en-US" sz="850" dirty="0">
                <a:solidFill>
                  <a:srgbClr val="5A6B7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Strategic Workforce</a:t>
            </a:r>
            <a:endParaRPr lang="en-US" sz="850" dirty="0"/>
          </a:p>
        </p:txBody>
      </p:sp>
      <p:sp>
        <p:nvSpPr>
          <p:cNvPr id="21" name="Shape 19"/>
          <p:cNvSpPr/>
          <p:nvPr/>
        </p:nvSpPr>
        <p:spPr>
          <a:xfrm>
            <a:off x="4846320" y="2011680"/>
            <a:ext cx="1920240" cy="256032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10000"/>
              </a:srgbClr>
            </a:outerShdw>
          </a:effectLst>
        </p:spPr>
      </p:sp>
      <p:sp>
        <p:nvSpPr>
          <p:cNvPr id="22" name="Shape 20"/>
          <p:cNvSpPr/>
          <p:nvPr/>
        </p:nvSpPr>
        <p:spPr>
          <a:xfrm>
            <a:off x="4846320" y="2011680"/>
            <a:ext cx="1920240" cy="54864"/>
          </a:xfrm>
          <a:prstGeom prst="rect">
            <a:avLst/>
          </a:prstGeom>
          <a:solidFill>
            <a:srgbClr val="006B5E"/>
          </a:solidFill>
          <a:ln/>
        </p:spPr>
      </p:sp>
      <p:sp>
        <p:nvSpPr>
          <p:cNvPr id="23" name="Text 21"/>
          <p:cNvSpPr/>
          <p:nvPr/>
        </p:nvSpPr>
        <p:spPr>
          <a:xfrm>
            <a:off x="4983480" y="2194560"/>
            <a:ext cx="1645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D1B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Technology</a:t>
            </a:r>
            <a:endParaRPr lang="en-US" sz="1100" dirty="0"/>
          </a:p>
          <a:p>
            <a:pPr indent="0" marL="0">
              <a:buNone/>
            </a:pPr>
            <a:r>
              <a:rPr lang="en-US" sz="1100" b="1" dirty="0">
                <a:solidFill>
                  <a:srgbClr val="0D1B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Enablement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4983480" y="2743200"/>
            <a:ext cx="1371600" cy="0"/>
          </a:xfrm>
          <a:prstGeom prst="line">
            <a:avLst/>
          </a:prstGeom>
          <a:noFill/>
          <a:ln w="6350">
            <a:solidFill>
              <a:srgbClr val="D4CBBF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4983480" y="2834640"/>
            <a:ext cx="164592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50000"/>
              </a:lnSpc>
              <a:buNone/>
            </a:pPr>
            <a:r>
              <a:rPr lang="en-US" sz="850" dirty="0">
                <a:solidFill>
                  <a:srgbClr val="5A6B7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Data Quality Tooling</a:t>
            </a:r>
            <a:endParaRPr lang="en-US" sz="850" dirty="0"/>
          </a:p>
          <a:p>
            <a:pPr indent="0" marL="0">
              <a:lnSpc>
                <a:spcPct val="150000"/>
              </a:lnSpc>
              <a:buNone/>
            </a:pPr>
            <a:r>
              <a:rPr lang="en-US" sz="850" dirty="0">
                <a:solidFill>
                  <a:srgbClr val="5A6B7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Metadata Management</a:t>
            </a:r>
            <a:endParaRPr lang="en-US" sz="850" dirty="0"/>
          </a:p>
          <a:p>
            <a:pPr indent="0" marL="0">
              <a:lnSpc>
                <a:spcPct val="150000"/>
              </a:lnSpc>
              <a:buNone/>
            </a:pPr>
            <a:r>
              <a:rPr lang="en-US" sz="850" dirty="0">
                <a:solidFill>
                  <a:srgbClr val="5A6B7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Master Data Solution</a:t>
            </a:r>
            <a:endParaRPr lang="en-US" sz="850" dirty="0"/>
          </a:p>
          <a:p>
            <a:pPr indent="0" marL="0">
              <a:lnSpc>
                <a:spcPct val="150000"/>
              </a:lnSpc>
              <a:buNone/>
            </a:pPr>
            <a:r>
              <a:rPr lang="en-US" sz="850" dirty="0">
                <a:solidFill>
                  <a:srgbClr val="5A6B7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Cloud &amp; Data Platforms</a:t>
            </a:r>
            <a:endParaRPr lang="en-US" sz="850" dirty="0"/>
          </a:p>
          <a:p>
            <a:pPr indent="0" marL="0">
              <a:lnSpc>
                <a:spcPct val="150000"/>
              </a:lnSpc>
              <a:buNone/>
            </a:pPr>
            <a:r>
              <a:rPr lang="en-US" sz="850" dirty="0">
                <a:solidFill>
                  <a:srgbClr val="5A6B7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Reporting &amp; Visualisation</a:t>
            </a:r>
            <a:endParaRPr lang="en-US" sz="850" dirty="0"/>
          </a:p>
        </p:txBody>
      </p:sp>
      <p:sp>
        <p:nvSpPr>
          <p:cNvPr id="26" name="Shape 24"/>
          <p:cNvSpPr/>
          <p:nvPr/>
        </p:nvSpPr>
        <p:spPr>
          <a:xfrm>
            <a:off x="6949440" y="2011680"/>
            <a:ext cx="1920240" cy="256032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10000"/>
              </a:srgbClr>
            </a:outerShdw>
          </a:effectLst>
        </p:spPr>
      </p:sp>
      <p:sp>
        <p:nvSpPr>
          <p:cNvPr id="27" name="Shape 25"/>
          <p:cNvSpPr/>
          <p:nvPr/>
        </p:nvSpPr>
        <p:spPr>
          <a:xfrm>
            <a:off x="6949440" y="2011680"/>
            <a:ext cx="1920240" cy="54864"/>
          </a:xfrm>
          <a:prstGeom prst="rect">
            <a:avLst/>
          </a:prstGeom>
          <a:solidFill>
            <a:srgbClr val="1A2D42"/>
          </a:solidFill>
          <a:ln/>
        </p:spPr>
      </p:sp>
      <p:sp>
        <p:nvSpPr>
          <p:cNvPr id="28" name="Text 26"/>
          <p:cNvSpPr/>
          <p:nvPr/>
        </p:nvSpPr>
        <p:spPr>
          <a:xfrm>
            <a:off x="7086600" y="2194560"/>
            <a:ext cx="1645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D1B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Analytics &amp;</a:t>
            </a:r>
            <a:endParaRPr lang="en-US" sz="1100" dirty="0"/>
          </a:p>
          <a:p>
            <a:pPr indent="0" marL="0">
              <a:buNone/>
            </a:pPr>
            <a:r>
              <a:rPr lang="en-US" sz="1100" b="1" dirty="0">
                <a:solidFill>
                  <a:srgbClr val="0D1B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Consumption</a:t>
            </a:r>
            <a:endParaRPr lang="en-US" sz="1100" dirty="0"/>
          </a:p>
        </p:txBody>
      </p:sp>
      <p:sp>
        <p:nvSpPr>
          <p:cNvPr id="29" name="Shape 27"/>
          <p:cNvSpPr/>
          <p:nvPr/>
        </p:nvSpPr>
        <p:spPr>
          <a:xfrm>
            <a:off x="7086600" y="2743200"/>
            <a:ext cx="1371600" cy="0"/>
          </a:xfrm>
          <a:prstGeom prst="line">
            <a:avLst/>
          </a:prstGeom>
          <a:noFill/>
          <a:ln w="6350">
            <a:solidFill>
              <a:srgbClr val="D4CBBF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7086600" y="2834640"/>
            <a:ext cx="164592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50000"/>
              </a:lnSpc>
              <a:buNone/>
            </a:pPr>
            <a:r>
              <a:rPr lang="en-US" sz="850" dirty="0">
                <a:solidFill>
                  <a:srgbClr val="5A6B7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MI &amp; Dashboards</a:t>
            </a:r>
            <a:endParaRPr lang="en-US" sz="850" dirty="0"/>
          </a:p>
          <a:p>
            <a:pPr indent="0" marL="0">
              <a:lnSpc>
                <a:spcPct val="150000"/>
              </a:lnSpc>
              <a:buNone/>
            </a:pPr>
            <a:r>
              <a:rPr lang="en-US" sz="850" dirty="0">
                <a:solidFill>
                  <a:srgbClr val="5A6B7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Self-Service Analytics</a:t>
            </a:r>
            <a:endParaRPr lang="en-US" sz="850" dirty="0"/>
          </a:p>
          <a:p>
            <a:pPr indent="0" marL="0">
              <a:lnSpc>
                <a:spcPct val="150000"/>
              </a:lnSpc>
              <a:buNone/>
            </a:pPr>
            <a:r>
              <a:rPr lang="en-US" sz="850" dirty="0">
                <a:solidFill>
                  <a:srgbClr val="5A6B7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Reusable Data Products</a:t>
            </a:r>
            <a:endParaRPr lang="en-US" sz="850" dirty="0"/>
          </a:p>
          <a:p>
            <a:pPr indent="0" marL="0">
              <a:lnSpc>
                <a:spcPct val="150000"/>
              </a:lnSpc>
              <a:buNone/>
            </a:pPr>
            <a:r>
              <a:rPr lang="en-US" sz="850" dirty="0">
                <a:solidFill>
                  <a:srgbClr val="5A6B7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Data Marketplace</a:t>
            </a:r>
            <a:endParaRPr lang="en-US" sz="850" dirty="0"/>
          </a:p>
          <a:p>
            <a:pPr indent="0" marL="0">
              <a:lnSpc>
                <a:spcPct val="150000"/>
              </a:lnSpc>
              <a:buNone/>
            </a:pPr>
            <a:r>
              <a:rPr lang="en-US" sz="850" dirty="0">
                <a:solidFill>
                  <a:srgbClr val="5A6B7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 &amp; Advanced Analytics</a:t>
            </a:r>
            <a:endParaRPr lang="en-US" sz="850" dirty="0"/>
          </a:p>
        </p:txBody>
      </p:sp>
      <p:sp>
        <p:nvSpPr>
          <p:cNvPr id="31" name="Shape 29"/>
          <p:cNvSpPr/>
          <p:nvPr/>
        </p:nvSpPr>
        <p:spPr>
          <a:xfrm>
            <a:off x="640080" y="4617720"/>
            <a:ext cx="7863840" cy="45720"/>
          </a:xfrm>
          <a:prstGeom prst="rect">
            <a:avLst/>
          </a:prstGeom>
          <a:solidFill>
            <a:srgbClr val="006B5E"/>
          </a:solidFill>
          <a:ln/>
        </p:spPr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AF6F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320040"/>
          </a:xfrm>
          <a:prstGeom prst="rect">
            <a:avLst/>
          </a:prstGeom>
          <a:solidFill>
            <a:srgbClr val="0D1B2A"/>
          </a:solidFill>
          <a:ln/>
        </p:spPr>
      </p:sp>
      <p:sp>
        <p:nvSpPr>
          <p:cNvPr id="3" name="Text 1"/>
          <p:cNvSpPr/>
          <p:nvPr/>
        </p:nvSpPr>
        <p:spPr>
          <a:xfrm>
            <a:off x="0" y="0"/>
            <a:ext cx="9144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spc="300" kern="0" dirty="0">
                <a:solidFill>
                  <a:srgbClr val="F5EDE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CONFIDENTIAL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640080" y="50292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spc="300" kern="0" dirty="0">
                <a:solidFill>
                  <a:srgbClr val="006B5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DATA ORGANISATION</a:t>
            </a:r>
            <a:endParaRPr lang="en-US" sz="900" dirty="0"/>
          </a:p>
        </p:txBody>
      </p:sp>
      <p:sp>
        <p:nvSpPr>
          <p:cNvPr id="5" name="Shape 3"/>
          <p:cNvSpPr/>
          <p:nvPr/>
        </p:nvSpPr>
        <p:spPr>
          <a:xfrm>
            <a:off x="640080" y="777240"/>
            <a:ext cx="548640" cy="0"/>
          </a:xfrm>
          <a:prstGeom prst="line">
            <a:avLst/>
          </a:prstGeom>
          <a:noFill/>
          <a:ln w="25400">
            <a:solidFill>
              <a:srgbClr val="006B5E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640080" y="868680"/>
            <a:ext cx="78638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D1B2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What your data organisation can look like</a:t>
            </a:r>
            <a:endParaRPr lang="en-US" sz="2200" dirty="0"/>
          </a:p>
        </p:txBody>
      </p:sp>
      <p:sp>
        <p:nvSpPr>
          <p:cNvPr id="7" name="Shape 5"/>
          <p:cNvSpPr/>
          <p:nvPr/>
        </p:nvSpPr>
        <p:spPr>
          <a:xfrm>
            <a:off x="0" y="4800600"/>
            <a:ext cx="9144000" cy="342900"/>
          </a:xfrm>
          <a:prstGeom prst="rect">
            <a:avLst/>
          </a:prstGeom>
          <a:solidFill>
            <a:srgbClr val="0D1B2A"/>
          </a:solidFill>
          <a:ln/>
        </p:spPr>
      </p:sp>
      <p:sp>
        <p:nvSpPr>
          <p:cNvPr id="8" name="Text 6"/>
          <p:cNvSpPr/>
          <p:nvPr/>
        </p:nvSpPr>
        <p:spPr>
          <a:xfrm>
            <a:off x="457200" y="4800600"/>
            <a:ext cx="3657600" cy="3429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00897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Enterprise.AI</a:t>
            </a:r>
            <a:endParaRPr lang="en-US" sz="800" dirty="0"/>
          </a:p>
        </p:txBody>
      </p:sp>
      <p:sp>
        <p:nvSpPr>
          <p:cNvPr id="9" name="Text 7"/>
          <p:cNvSpPr/>
          <p:nvPr/>
        </p:nvSpPr>
        <p:spPr>
          <a:xfrm>
            <a:off x="8229600" y="4800600"/>
            <a:ext cx="457200" cy="3429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F5EDE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640080" y="1463040"/>
            <a:ext cx="78638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5A6B7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right structure depends on business maturity, regulatory needs, data ambition, and the degree of central control required.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640080" y="1920240"/>
            <a:ext cx="2560320" cy="274320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10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640080" y="1920240"/>
            <a:ext cx="2560320" cy="411480"/>
          </a:xfrm>
          <a:prstGeom prst="rect">
            <a:avLst/>
          </a:prstGeom>
          <a:solidFill>
            <a:srgbClr val="1A2D42"/>
          </a:solidFill>
          <a:ln/>
        </p:spPr>
      </p:sp>
      <p:sp>
        <p:nvSpPr>
          <p:cNvPr id="13" name="Text 11"/>
          <p:cNvSpPr/>
          <p:nvPr/>
        </p:nvSpPr>
        <p:spPr>
          <a:xfrm>
            <a:off x="640080" y="1920240"/>
            <a:ext cx="25603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Centralised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777240" y="2423160"/>
            <a:ext cx="22860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900" dirty="0">
                <a:solidFill>
                  <a:srgbClr val="1A233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single central data function owns strategy, governance, standards, tooling, delivery, and analytics.</a:t>
            </a:r>
            <a:endParaRPr lang="en-US" sz="900" dirty="0"/>
          </a:p>
        </p:txBody>
      </p:sp>
      <p:sp>
        <p:nvSpPr>
          <p:cNvPr id="15" name="Text 13"/>
          <p:cNvSpPr/>
          <p:nvPr/>
        </p:nvSpPr>
        <p:spPr>
          <a:xfrm>
            <a:off x="777240" y="3200400"/>
            <a:ext cx="22860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850" b="1" dirty="0">
                <a:solidFill>
                  <a:srgbClr val="006B5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Best for: </a:t>
            </a:r>
            <a:pPr indent="0" marL="0">
              <a:lnSpc>
                <a:spcPct val="120000"/>
              </a:lnSpc>
              <a:buNone/>
            </a:pPr>
            <a:r>
              <a:rPr lang="en-US" sz="850" dirty="0">
                <a:solidFill>
                  <a:srgbClr val="5A6B7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Consistency, control, regulatory confidence, standardisation</a:t>
            </a:r>
            <a:endParaRPr lang="en-US" sz="850" dirty="0"/>
          </a:p>
        </p:txBody>
      </p:sp>
      <p:sp>
        <p:nvSpPr>
          <p:cNvPr id="16" name="Text 14"/>
          <p:cNvSpPr/>
          <p:nvPr/>
        </p:nvSpPr>
        <p:spPr>
          <a:xfrm>
            <a:off x="777240" y="3749040"/>
            <a:ext cx="22860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850" b="1" dirty="0">
                <a:solidFill>
                  <a:srgbClr val="C039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Risk: </a:t>
            </a:r>
            <a:pPr indent="0" marL="0">
              <a:lnSpc>
                <a:spcPct val="120000"/>
              </a:lnSpc>
              <a:buNone/>
            </a:pPr>
            <a:r>
              <a:rPr lang="en-US" sz="850" dirty="0">
                <a:solidFill>
                  <a:srgbClr val="5A6B7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Can become detached from business priorities or create delivery bottlenecks</a:t>
            </a:r>
            <a:endParaRPr lang="en-US" sz="850" dirty="0"/>
          </a:p>
        </p:txBody>
      </p:sp>
      <p:sp>
        <p:nvSpPr>
          <p:cNvPr id="17" name="Shape 15"/>
          <p:cNvSpPr/>
          <p:nvPr/>
        </p:nvSpPr>
        <p:spPr>
          <a:xfrm>
            <a:off x="3429000" y="1920240"/>
            <a:ext cx="2560320" cy="274320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10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3429000" y="1920240"/>
            <a:ext cx="2560320" cy="411480"/>
          </a:xfrm>
          <a:prstGeom prst="rect">
            <a:avLst/>
          </a:prstGeom>
          <a:solidFill>
            <a:srgbClr val="006B5E"/>
          </a:solidFill>
          <a:ln/>
        </p:spPr>
      </p:sp>
      <p:sp>
        <p:nvSpPr>
          <p:cNvPr id="19" name="Text 17"/>
          <p:cNvSpPr/>
          <p:nvPr/>
        </p:nvSpPr>
        <p:spPr>
          <a:xfrm>
            <a:off x="3429000" y="1920240"/>
            <a:ext cx="25603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Federated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3566160" y="2423160"/>
            <a:ext cx="22860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900" dirty="0">
                <a:solidFill>
                  <a:srgbClr val="1A233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lean central function sets strategy, standards, and shared platforms. Business units own use cases and adoption.</a:t>
            </a:r>
            <a:endParaRPr lang="en-US" sz="900" dirty="0"/>
          </a:p>
        </p:txBody>
      </p:sp>
      <p:sp>
        <p:nvSpPr>
          <p:cNvPr id="21" name="Text 19"/>
          <p:cNvSpPr/>
          <p:nvPr/>
        </p:nvSpPr>
        <p:spPr>
          <a:xfrm>
            <a:off x="3566160" y="3200400"/>
            <a:ext cx="22860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850" b="1" dirty="0">
                <a:solidFill>
                  <a:srgbClr val="006B5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Best for: </a:t>
            </a:r>
            <a:pPr indent="0" marL="0">
              <a:lnSpc>
                <a:spcPct val="120000"/>
              </a:lnSpc>
              <a:buNone/>
            </a:pPr>
            <a:r>
              <a:rPr lang="en-US" sz="850" dirty="0">
                <a:solidFill>
                  <a:srgbClr val="5A6B7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Balancing enterprise control with business ownership</a:t>
            </a:r>
            <a:endParaRPr lang="en-US" sz="850" dirty="0"/>
          </a:p>
        </p:txBody>
      </p:sp>
      <p:sp>
        <p:nvSpPr>
          <p:cNvPr id="22" name="Text 20"/>
          <p:cNvSpPr/>
          <p:nvPr/>
        </p:nvSpPr>
        <p:spPr>
          <a:xfrm>
            <a:off x="3566160" y="3749040"/>
            <a:ext cx="22860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850" b="1" dirty="0">
                <a:solidFill>
                  <a:srgbClr val="C039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Risk: </a:t>
            </a:r>
            <a:pPr indent="0" marL="0">
              <a:lnSpc>
                <a:spcPct val="120000"/>
              </a:lnSpc>
              <a:buNone/>
            </a:pPr>
            <a:r>
              <a:rPr lang="en-US" sz="850" dirty="0">
                <a:solidFill>
                  <a:srgbClr val="5A6B7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Requires clear accountability, strong coordination, and disciplined governance</a:t>
            </a:r>
            <a:endParaRPr lang="en-US" sz="850" dirty="0"/>
          </a:p>
        </p:txBody>
      </p:sp>
      <p:sp>
        <p:nvSpPr>
          <p:cNvPr id="23" name="Text 21"/>
          <p:cNvSpPr/>
          <p:nvPr/>
        </p:nvSpPr>
        <p:spPr>
          <a:xfrm>
            <a:off x="3977640" y="4297680"/>
            <a:ext cx="14630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spc="200" kern="0" dirty="0">
                <a:solidFill>
                  <a:srgbClr val="006B5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RECOMMENDED</a:t>
            </a:r>
            <a:endParaRPr lang="en-US" sz="800" dirty="0"/>
          </a:p>
        </p:txBody>
      </p:sp>
      <p:sp>
        <p:nvSpPr>
          <p:cNvPr id="24" name="Shape 22"/>
          <p:cNvSpPr/>
          <p:nvPr/>
        </p:nvSpPr>
        <p:spPr>
          <a:xfrm>
            <a:off x="6217920" y="1920240"/>
            <a:ext cx="2560320" cy="274320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10000"/>
              </a:srgbClr>
            </a:outerShdw>
          </a:effectLst>
        </p:spPr>
      </p:sp>
      <p:sp>
        <p:nvSpPr>
          <p:cNvPr id="25" name="Shape 23"/>
          <p:cNvSpPr/>
          <p:nvPr/>
        </p:nvSpPr>
        <p:spPr>
          <a:xfrm>
            <a:off x="6217920" y="1920240"/>
            <a:ext cx="2560320" cy="411480"/>
          </a:xfrm>
          <a:prstGeom prst="rect">
            <a:avLst/>
          </a:prstGeom>
          <a:solidFill>
            <a:srgbClr val="1A2D42"/>
          </a:solidFill>
          <a:ln/>
        </p:spPr>
      </p:sp>
      <p:sp>
        <p:nvSpPr>
          <p:cNvPr id="26" name="Text 24"/>
          <p:cNvSpPr/>
          <p:nvPr/>
        </p:nvSpPr>
        <p:spPr>
          <a:xfrm>
            <a:off x="6217920" y="1920240"/>
            <a:ext cx="25603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Decentralised</a:t>
            </a:r>
            <a:endParaRPr lang="en-US" sz="1300" dirty="0"/>
          </a:p>
        </p:txBody>
      </p:sp>
      <p:sp>
        <p:nvSpPr>
          <p:cNvPr id="27" name="Text 25"/>
          <p:cNvSpPr/>
          <p:nvPr/>
        </p:nvSpPr>
        <p:spPr>
          <a:xfrm>
            <a:off x="6355080" y="2423160"/>
            <a:ext cx="22860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900" dirty="0">
                <a:solidFill>
                  <a:srgbClr val="1A233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Data capability sits within individual business units, each managing their own priorities and delivery.</a:t>
            </a:r>
            <a:endParaRPr lang="en-US" sz="900" dirty="0"/>
          </a:p>
        </p:txBody>
      </p:sp>
      <p:sp>
        <p:nvSpPr>
          <p:cNvPr id="28" name="Text 26"/>
          <p:cNvSpPr/>
          <p:nvPr/>
        </p:nvSpPr>
        <p:spPr>
          <a:xfrm>
            <a:off x="6355080" y="3200400"/>
            <a:ext cx="22860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850" b="1" dirty="0">
                <a:solidFill>
                  <a:srgbClr val="006B5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Best for: </a:t>
            </a:r>
            <a:pPr indent="0" marL="0">
              <a:lnSpc>
                <a:spcPct val="120000"/>
              </a:lnSpc>
              <a:buNone/>
            </a:pPr>
            <a:r>
              <a:rPr lang="en-US" sz="850" dirty="0">
                <a:solidFill>
                  <a:srgbClr val="5A6B7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Speed, business proximity, local ownership, tailored solutions</a:t>
            </a:r>
            <a:endParaRPr lang="en-US" sz="850" dirty="0"/>
          </a:p>
        </p:txBody>
      </p:sp>
      <p:sp>
        <p:nvSpPr>
          <p:cNvPr id="29" name="Text 27"/>
          <p:cNvSpPr/>
          <p:nvPr/>
        </p:nvSpPr>
        <p:spPr>
          <a:xfrm>
            <a:off x="6355080" y="3749040"/>
            <a:ext cx="22860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850" b="1" dirty="0">
                <a:solidFill>
                  <a:srgbClr val="C039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Risk: </a:t>
            </a:r>
            <a:pPr indent="0" marL="0">
              <a:lnSpc>
                <a:spcPct val="120000"/>
              </a:lnSpc>
              <a:buNone/>
            </a:pPr>
            <a:r>
              <a:rPr lang="en-US" sz="850" dirty="0">
                <a:solidFill>
                  <a:srgbClr val="5A6B7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Duplication, inconsistent standards, fragmented tooling, weaker enterprise control</a:t>
            </a:r>
            <a:endParaRPr lang="en-US" sz="8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AF6F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320040"/>
          </a:xfrm>
          <a:prstGeom prst="rect">
            <a:avLst/>
          </a:prstGeom>
          <a:solidFill>
            <a:srgbClr val="0D1B2A"/>
          </a:solidFill>
          <a:ln/>
        </p:spPr>
      </p:sp>
      <p:sp>
        <p:nvSpPr>
          <p:cNvPr id="3" name="Text 1"/>
          <p:cNvSpPr/>
          <p:nvPr/>
        </p:nvSpPr>
        <p:spPr>
          <a:xfrm>
            <a:off x="0" y="0"/>
            <a:ext cx="9144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spc="300" kern="0" dirty="0">
                <a:solidFill>
                  <a:srgbClr val="F5EDE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CONFIDENTIAL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640080" y="50292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spc="300" kern="0" dirty="0">
                <a:solidFill>
                  <a:srgbClr val="006B5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DATA OFFICE</a:t>
            </a:r>
            <a:endParaRPr lang="en-US" sz="900" dirty="0"/>
          </a:p>
        </p:txBody>
      </p:sp>
      <p:sp>
        <p:nvSpPr>
          <p:cNvPr id="5" name="Shape 3"/>
          <p:cNvSpPr/>
          <p:nvPr/>
        </p:nvSpPr>
        <p:spPr>
          <a:xfrm>
            <a:off x="640080" y="777240"/>
            <a:ext cx="548640" cy="0"/>
          </a:xfrm>
          <a:prstGeom prst="line">
            <a:avLst/>
          </a:prstGeom>
          <a:noFill/>
          <a:ln w="25400">
            <a:solidFill>
              <a:srgbClr val="006B5E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640080" y="868680"/>
            <a:ext cx="78638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D1B2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Core capabilities &amp; reporting options</a:t>
            </a:r>
            <a:endParaRPr lang="en-US" sz="2200" dirty="0"/>
          </a:p>
        </p:txBody>
      </p:sp>
      <p:sp>
        <p:nvSpPr>
          <p:cNvPr id="7" name="Shape 5"/>
          <p:cNvSpPr/>
          <p:nvPr/>
        </p:nvSpPr>
        <p:spPr>
          <a:xfrm>
            <a:off x="0" y="4800600"/>
            <a:ext cx="9144000" cy="342900"/>
          </a:xfrm>
          <a:prstGeom prst="rect">
            <a:avLst/>
          </a:prstGeom>
          <a:solidFill>
            <a:srgbClr val="0D1B2A"/>
          </a:solidFill>
          <a:ln/>
        </p:spPr>
      </p:sp>
      <p:sp>
        <p:nvSpPr>
          <p:cNvPr id="8" name="Text 6"/>
          <p:cNvSpPr/>
          <p:nvPr/>
        </p:nvSpPr>
        <p:spPr>
          <a:xfrm>
            <a:off x="457200" y="4800600"/>
            <a:ext cx="3657600" cy="3429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00897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Enterprise.AI</a:t>
            </a:r>
            <a:endParaRPr lang="en-US" sz="800" dirty="0"/>
          </a:p>
        </p:txBody>
      </p:sp>
      <p:sp>
        <p:nvSpPr>
          <p:cNvPr id="9" name="Text 7"/>
          <p:cNvSpPr/>
          <p:nvPr/>
        </p:nvSpPr>
        <p:spPr>
          <a:xfrm>
            <a:off x="8229600" y="4800600"/>
            <a:ext cx="457200" cy="3429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F5EDE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640080" y="1463040"/>
            <a:ext cx="78638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A6B7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successful Data Office requires both the right capabilities and the right organisational mandate.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640080" y="1920240"/>
            <a:ext cx="1874520" cy="457200"/>
          </a:xfrm>
          <a:prstGeom prst="rect">
            <a:avLst/>
          </a:prstGeom>
          <a:solidFill>
            <a:srgbClr val="006B5E"/>
          </a:solidFill>
          <a:ln w="6350">
            <a:solidFill>
              <a:srgbClr val="D4CBBF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640080" y="1920240"/>
            <a:ext cx="18745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Data Strategy</a:t>
            </a:r>
            <a:endParaRPr lang="en-US" sz="900" dirty="0"/>
          </a:p>
        </p:txBody>
      </p:sp>
      <p:sp>
        <p:nvSpPr>
          <p:cNvPr id="13" name="Shape 11"/>
          <p:cNvSpPr/>
          <p:nvPr/>
        </p:nvSpPr>
        <p:spPr>
          <a:xfrm>
            <a:off x="2697480" y="1920240"/>
            <a:ext cx="1874520" cy="457200"/>
          </a:xfrm>
          <a:prstGeom prst="rect">
            <a:avLst/>
          </a:prstGeom>
          <a:solidFill>
            <a:srgbClr val="006B5E"/>
          </a:solidFill>
          <a:ln w="6350">
            <a:solidFill>
              <a:srgbClr val="D4CBBF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2697480" y="1920240"/>
            <a:ext cx="18745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Data Governance</a:t>
            </a:r>
            <a:endParaRPr lang="en-US" sz="900" dirty="0"/>
          </a:p>
        </p:txBody>
      </p:sp>
      <p:sp>
        <p:nvSpPr>
          <p:cNvPr id="15" name="Shape 13"/>
          <p:cNvSpPr/>
          <p:nvPr/>
        </p:nvSpPr>
        <p:spPr>
          <a:xfrm>
            <a:off x="4754880" y="1920240"/>
            <a:ext cx="1874520" cy="457200"/>
          </a:xfrm>
          <a:prstGeom prst="rect">
            <a:avLst/>
          </a:prstGeom>
          <a:solidFill>
            <a:srgbClr val="006B5E"/>
          </a:solidFill>
          <a:ln w="6350">
            <a:solidFill>
              <a:srgbClr val="D4CBBF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4754880" y="1920240"/>
            <a:ext cx="18745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Data Privacy &amp; Protection</a:t>
            </a:r>
            <a:endParaRPr lang="en-US" sz="900" dirty="0"/>
          </a:p>
        </p:txBody>
      </p:sp>
      <p:sp>
        <p:nvSpPr>
          <p:cNvPr id="17" name="Shape 15"/>
          <p:cNvSpPr/>
          <p:nvPr/>
        </p:nvSpPr>
        <p:spPr>
          <a:xfrm>
            <a:off x="6812280" y="1920240"/>
            <a:ext cx="1874520" cy="457200"/>
          </a:xfrm>
          <a:prstGeom prst="rect">
            <a:avLst/>
          </a:prstGeom>
          <a:solidFill>
            <a:srgbClr val="006B5E"/>
          </a:solidFill>
          <a:ln w="6350">
            <a:solidFill>
              <a:srgbClr val="D4CBBF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6812280" y="1920240"/>
            <a:ext cx="18745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Data Architecture</a:t>
            </a:r>
            <a:endParaRPr lang="en-US" sz="900" dirty="0"/>
          </a:p>
        </p:txBody>
      </p:sp>
      <p:sp>
        <p:nvSpPr>
          <p:cNvPr id="19" name="Shape 17"/>
          <p:cNvSpPr/>
          <p:nvPr/>
        </p:nvSpPr>
        <p:spPr>
          <a:xfrm>
            <a:off x="640080" y="2514600"/>
            <a:ext cx="1874520" cy="457200"/>
          </a:xfrm>
          <a:prstGeom prst="rect">
            <a:avLst/>
          </a:prstGeom>
          <a:solidFill>
            <a:srgbClr val="FFFFFF"/>
          </a:solidFill>
          <a:ln w="6350">
            <a:solidFill>
              <a:srgbClr val="D4CBBF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640080" y="2514600"/>
            <a:ext cx="18745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0D1B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Analytics, Reporting &amp; AI</a:t>
            </a:r>
            <a:endParaRPr lang="en-US" sz="900" dirty="0"/>
          </a:p>
        </p:txBody>
      </p:sp>
      <p:sp>
        <p:nvSpPr>
          <p:cNvPr id="21" name="Shape 19"/>
          <p:cNvSpPr/>
          <p:nvPr/>
        </p:nvSpPr>
        <p:spPr>
          <a:xfrm>
            <a:off x="2697480" y="2514600"/>
            <a:ext cx="1874520" cy="457200"/>
          </a:xfrm>
          <a:prstGeom prst="rect">
            <a:avLst/>
          </a:prstGeom>
          <a:solidFill>
            <a:srgbClr val="FFFFFF"/>
          </a:solidFill>
          <a:ln w="6350">
            <a:solidFill>
              <a:srgbClr val="D4CBBF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2697480" y="2514600"/>
            <a:ext cx="18745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0D1B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Data Culture &amp; Adoption</a:t>
            </a:r>
            <a:endParaRPr lang="en-US" sz="900" dirty="0"/>
          </a:p>
        </p:txBody>
      </p:sp>
      <p:sp>
        <p:nvSpPr>
          <p:cNvPr id="23" name="Shape 21"/>
          <p:cNvSpPr/>
          <p:nvPr/>
        </p:nvSpPr>
        <p:spPr>
          <a:xfrm>
            <a:off x="4754880" y="2514600"/>
            <a:ext cx="1874520" cy="457200"/>
          </a:xfrm>
          <a:prstGeom prst="rect">
            <a:avLst/>
          </a:prstGeom>
          <a:solidFill>
            <a:srgbClr val="FFFFFF"/>
          </a:solidFill>
          <a:ln w="6350">
            <a:solidFill>
              <a:srgbClr val="D4CBBF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4754880" y="2514600"/>
            <a:ext cx="18745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0D1B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Data Delivery</a:t>
            </a:r>
            <a:endParaRPr lang="en-US" sz="900" dirty="0"/>
          </a:p>
        </p:txBody>
      </p:sp>
      <p:sp>
        <p:nvSpPr>
          <p:cNvPr id="25" name="Shape 23"/>
          <p:cNvSpPr/>
          <p:nvPr/>
        </p:nvSpPr>
        <p:spPr>
          <a:xfrm>
            <a:off x="6812280" y="2514600"/>
            <a:ext cx="1874520" cy="457200"/>
          </a:xfrm>
          <a:prstGeom prst="rect">
            <a:avLst/>
          </a:prstGeom>
          <a:solidFill>
            <a:srgbClr val="FFFFFF"/>
          </a:solidFill>
          <a:ln w="6350">
            <a:solidFill>
              <a:srgbClr val="D4CBBF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6812280" y="2514600"/>
            <a:ext cx="18745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0D1B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Data Quality</a:t>
            </a:r>
            <a:endParaRPr lang="en-US" sz="900" dirty="0"/>
          </a:p>
        </p:txBody>
      </p:sp>
      <p:sp>
        <p:nvSpPr>
          <p:cNvPr id="27" name="Shape 25"/>
          <p:cNvSpPr/>
          <p:nvPr/>
        </p:nvSpPr>
        <p:spPr>
          <a:xfrm>
            <a:off x="640080" y="3108960"/>
            <a:ext cx="1874520" cy="457200"/>
          </a:xfrm>
          <a:prstGeom prst="rect">
            <a:avLst/>
          </a:prstGeom>
          <a:solidFill>
            <a:srgbClr val="FFFFFF"/>
          </a:solidFill>
          <a:ln w="6350">
            <a:solidFill>
              <a:srgbClr val="D4CBBF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640080" y="3108960"/>
            <a:ext cx="18745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0D1B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Metadata &amp; Catalogue</a:t>
            </a:r>
            <a:endParaRPr lang="en-US" sz="900" dirty="0"/>
          </a:p>
        </p:txBody>
      </p:sp>
      <p:sp>
        <p:nvSpPr>
          <p:cNvPr id="29" name="Shape 27"/>
          <p:cNvSpPr/>
          <p:nvPr/>
        </p:nvSpPr>
        <p:spPr>
          <a:xfrm>
            <a:off x="2697480" y="3108960"/>
            <a:ext cx="1874520" cy="457200"/>
          </a:xfrm>
          <a:prstGeom prst="rect">
            <a:avLst/>
          </a:prstGeom>
          <a:solidFill>
            <a:srgbClr val="FFFFFF"/>
          </a:solidFill>
          <a:ln w="6350">
            <a:solidFill>
              <a:srgbClr val="D4CBBF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2697480" y="3108960"/>
            <a:ext cx="18745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0D1B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Data Modelling</a:t>
            </a:r>
            <a:endParaRPr lang="en-US" sz="900" dirty="0"/>
          </a:p>
        </p:txBody>
      </p:sp>
      <p:sp>
        <p:nvSpPr>
          <p:cNvPr id="31" name="Shape 29"/>
          <p:cNvSpPr/>
          <p:nvPr/>
        </p:nvSpPr>
        <p:spPr>
          <a:xfrm>
            <a:off x="4754880" y="3108960"/>
            <a:ext cx="1874520" cy="457200"/>
          </a:xfrm>
          <a:prstGeom prst="rect">
            <a:avLst/>
          </a:prstGeom>
          <a:solidFill>
            <a:srgbClr val="FFFFFF"/>
          </a:solidFill>
          <a:ln w="6350">
            <a:solidFill>
              <a:srgbClr val="D4CBBF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4754880" y="3108960"/>
            <a:ext cx="18745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0D1B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Data Platforms &amp; Tooling</a:t>
            </a:r>
            <a:endParaRPr lang="en-US" sz="900" dirty="0"/>
          </a:p>
        </p:txBody>
      </p:sp>
      <p:sp>
        <p:nvSpPr>
          <p:cNvPr id="33" name="Shape 31"/>
          <p:cNvSpPr/>
          <p:nvPr/>
        </p:nvSpPr>
        <p:spPr>
          <a:xfrm>
            <a:off x="6812280" y="3108960"/>
            <a:ext cx="1874520" cy="457200"/>
          </a:xfrm>
          <a:prstGeom prst="rect">
            <a:avLst/>
          </a:prstGeom>
          <a:solidFill>
            <a:srgbClr val="FFFFFF"/>
          </a:solidFill>
          <a:ln w="6350">
            <a:solidFill>
              <a:srgbClr val="D4CBBF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6812280" y="3108960"/>
            <a:ext cx="18745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0D1B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Record Management</a:t>
            </a:r>
            <a:endParaRPr lang="en-US" sz="900" dirty="0"/>
          </a:p>
        </p:txBody>
      </p:sp>
      <p:sp>
        <p:nvSpPr>
          <p:cNvPr id="35" name="Text 33"/>
          <p:cNvSpPr/>
          <p:nvPr/>
        </p:nvSpPr>
        <p:spPr>
          <a:xfrm>
            <a:off x="640080" y="3840480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D1B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Reporting options — where the Data Office sits</a:t>
            </a:r>
            <a:endParaRPr lang="en-US" sz="1000" dirty="0"/>
          </a:p>
        </p:txBody>
      </p:sp>
      <p:sp>
        <p:nvSpPr>
          <p:cNvPr id="36" name="Shape 34"/>
          <p:cNvSpPr/>
          <p:nvPr/>
        </p:nvSpPr>
        <p:spPr>
          <a:xfrm>
            <a:off x="640080" y="4160520"/>
            <a:ext cx="2560320" cy="502920"/>
          </a:xfrm>
          <a:prstGeom prst="rect">
            <a:avLst/>
          </a:prstGeom>
          <a:solidFill>
            <a:srgbClr val="FFFFFF"/>
          </a:solidFill>
          <a:ln w="6350">
            <a:solidFill>
              <a:srgbClr val="D4CBBF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731520" y="4160520"/>
            <a:ext cx="2377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D1B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CEO → CDAO</a:t>
            </a:r>
            <a:endParaRPr lang="en-US" sz="1000" dirty="0"/>
          </a:p>
        </p:txBody>
      </p:sp>
      <p:sp>
        <p:nvSpPr>
          <p:cNvPr id="38" name="Text 36"/>
          <p:cNvSpPr/>
          <p:nvPr/>
        </p:nvSpPr>
        <p:spPr>
          <a:xfrm>
            <a:off x="731520" y="4407408"/>
            <a:ext cx="23774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5A6B7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Maximum mandate, direct board access</a:t>
            </a:r>
            <a:endParaRPr lang="en-US" sz="800" dirty="0"/>
          </a:p>
        </p:txBody>
      </p:sp>
      <p:sp>
        <p:nvSpPr>
          <p:cNvPr id="39" name="Shape 37"/>
          <p:cNvSpPr/>
          <p:nvPr/>
        </p:nvSpPr>
        <p:spPr>
          <a:xfrm>
            <a:off x="3429000" y="4160520"/>
            <a:ext cx="2560320" cy="502920"/>
          </a:xfrm>
          <a:prstGeom prst="rect">
            <a:avLst/>
          </a:prstGeom>
          <a:solidFill>
            <a:srgbClr val="FFFFFF"/>
          </a:solidFill>
          <a:ln w="6350">
            <a:solidFill>
              <a:srgbClr val="D4CBBF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3520440" y="4160520"/>
            <a:ext cx="2377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D1B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COO → CDAO</a:t>
            </a:r>
            <a:endParaRPr lang="en-US" sz="1000" dirty="0"/>
          </a:p>
        </p:txBody>
      </p:sp>
      <p:sp>
        <p:nvSpPr>
          <p:cNvPr id="41" name="Text 39"/>
          <p:cNvSpPr/>
          <p:nvPr/>
        </p:nvSpPr>
        <p:spPr>
          <a:xfrm>
            <a:off x="3520440" y="4407408"/>
            <a:ext cx="23774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5A6B7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Operational alignment, process integration</a:t>
            </a:r>
            <a:endParaRPr lang="en-US" sz="800" dirty="0"/>
          </a:p>
        </p:txBody>
      </p:sp>
      <p:sp>
        <p:nvSpPr>
          <p:cNvPr id="42" name="Shape 40"/>
          <p:cNvSpPr/>
          <p:nvPr/>
        </p:nvSpPr>
        <p:spPr>
          <a:xfrm>
            <a:off x="6217920" y="4160520"/>
            <a:ext cx="2560320" cy="502920"/>
          </a:xfrm>
          <a:prstGeom prst="rect">
            <a:avLst/>
          </a:prstGeom>
          <a:solidFill>
            <a:srgbClr val="FFFFFF"/>
          </a:solidFill>
          <a:ln w="6350">
            <a:solidFill>
              <a:srgbClr val="D4CBBF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6309360" y="4160520"/>
            <a:ext cx="2377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D1B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CITO → CDAO</a:t>
            </a:r>
            <a:endParaRPr lang="en-US" sz="1000" dirty="0"/>
          </a:p>
        </p:txBody>
      </p:sp>
      <p:sp>
        <p:nvSpPr>
          <p:cNvPr id="44" name="Text 42"/>
          <p:cNvSpPr/>
          <p:nvPr/>
        </p:nvSpPr>
        <p:spPr>
          <a:xfrm>
            <a:off x="6309360" y="4407408"/>
            <a:ext cx="23774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5A6B7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Technology alignment, platform synergy</a:t>
            </a:r>
            <a:endParaRPr lang="en-US" sz="8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AF6F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320040"/>
          </a:xfrm>
          <a:prstGeom prst="rect">
            <a:avLst/>
          </a:prstGeom>
          <a:solidFill>
            <a:srgbClr val="0D1B2A"/>
          </a:solidFill>
          <a:ln/>
        </p:spPr>
      </p:sp>
      <p:sp>
        <p:nvSpPr>
          <p:cNvPr id="3" name="Text 1"/>
          <p:cNvSpPr/>
          <p:nvPr/>
        </p:nvSpPr>
        <p:spPr>
          <a:xfrm>
            <a:off x="0" y="0"/>
            <a:ext cx="9144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spc="300" kern="0" dirty="0">
                <a:solidFill>
                  <a:srgbClr val="F5EDE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CONFIDENTIAL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640080" y="50292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spc="300" kern="0" dirty="0">
                <a:solidFill>
                  <a:srgbClr val="006B5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90-DAY PLAN</a:t>
            </a:r>
            <a:endParaRPr lang="en-US" sz="900" dirty="0"/>
          </a:p>
        </p:txBody>
      </p:sp>
      <p:sp>
        <p:nvSpPr>
          <p:cNvPr id="5" name="Shape 3"/>
          <p:cNvSpPr/>
          <p:nvPr/>
        </p:nvSpPr>
        <p:spPr>
          <a:xfrm>
            <a:off x="640080" y="777240"/>
            <a:ext cx="548640" cy="0"/>
          </a:xfrm>
          <a:prstGeom prst="line">
            <a:avLst/>
          </a:prstGeom>
          <a:noFill/>
          <a:ln w="25400">
            <a:solidFill>
              <a:srgbClr val="006B5E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640080" y="868680"/>
            <a:ext cx="78638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D1B2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Quick wins and early momentum</a:t>
            </a:r>
            <a:endParaRPr lang="en-US" sz="2200" dirty="0"/>
          </a:p>
        </p:txBody>
      </p:sp>
      <p:sp>
        <p:nvSpPr>
          <p:cNvPr id="7" name="Shape 5"/>
          <p:cNvSpPr/>
          <p:nvPr/>
        </p:nvSpPr>
        <p:spPr>
          <a:xfrm>
            <a:off x="0" y="4800600"/>
            <a:ext cx="9144000" cy="342900"/>
          </a:xfrm>
          <a:prstGeom prst="rect">
            <a:avLst/>
          </a:prstGeom>
          <a:solidFill>
            <a:srgbClr val="0D1B2A"/>
          </a:solidFill>
          <a:ln/>
        </p:spPr>
      </p:sp>
      <p:sp>
        <p:nvSpPr>
          <p:cNvPr id="8" name="Text 6"/>
          <p:cNvSpPr/>
          <p:nvPr/>
        </p:nvSpPr>
        <p:spPr>
          <a:xfrm>
            <a:off x="457200" y="4800600"/>
            <a:ext cx="3657600" cy="3429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00897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Enterprise.AI</a:t>
            </a:r>
            <a:endParaRPr lang="en-US" sz="800" dirty="0"/>
          </a:p>
        </p:txBody>
      </p:sp>
      <p:sp>
        <p:nvSpPr>
          <p:cNvPr id="9" name="Text 7"/>
          <p:cNvSpPr/>
          <p:nvPr/>
        </p:nvSpPr>
        <p:spPr>
          <a:xfrm>
            <a:off x="8229600" y="4800600"/>
            <a:ext cx="457200" cy="3429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F5EDE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640080" y="1463040"/>
            <a:ext cx="78638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5A6B7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We recommend a phased approach that delivers visible results within 90 days while building the foundation for sustainable transformation.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640080" y="2011680"/>
            <a:ext cx="2560320" cy="265176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10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640080" y="2011680"/>
            <a:ext cx="2560320" cy="54864"/>
          </a:xfrm>
          <a:prstGeom prst="rect">
            <a:avLst/>
          </a:prstGeom>
          <a:solidFill>
            <a:srgbClr val="C0392B"/>
          </a:solidFill>
          <a:ln/>
        </p:spPr>
      </p:sp>
      <p:sp>
        <p:nvSpPr>
          <p:cNvPr id="13" name="Text 11"/>
          <p:cNvSpPr/>
          <p:nvPr/>
        </p:nvSpPr>
        <p:spPr>
          <a:xfrm>
            <a:off x="777240" y="2148840"/>
            <a:ext cx="1828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spc="150" kern="0" dirty="0">
                <a:solidFill>
                  <a:srgbClr val="5A6B7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Weeks 1–4</a:t>
            </a:r>
            <a:endParaRPr lang="en-US" sz="800" dirty="0"/>
          </a:p>
        </p:txBody>
      </p:sp>
      <p:sp>
        <p:nvSpPr>
          <p:cNvPr id="14" name="Text 12"/>
          <p:cNvSpPr/>
          <p:nvPr/>
        </p:nvSpPr>
        <p:spPr>
          <a:xfrm>
            <a:off x="777240" y="2377440"/>
            <a:ext cx="2286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D1B2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Diagnose</a:t>
            </a:r>
            <a:endParaRPr lang="en-US" sz="1800" dirty="0"/>
          </a:p>
        </p:txBody>
      </p:sp>
      <p:sp>
        <p:nvSpPr>
          <p:cNvPr id="15" name="Text 13"/>
          <p:cNvSpPr/>
          <p:nvPr/>
        </p:nvSpPr>
        <p:spPr>
          <a:xfrm>
            <a:off x="777240" y="2788920"/>
            <a:ext cx="228600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lnSpc>
                <a:spcPct val="140000"/>
              </a:lnSpc>
              <a:spcAft>
                <a:spcPts val="200"/>
              </a:spcAft>
              <a:buSzPct val="100000"/>
              <a:buChar char="•"/>
            </a:pPr>
            <a:r>
              <a:rPr lang="en-US" sz="850" dirty="0">
                <a:solidFill>
                  <a:srgbClr val="5A6B7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Programme health assessment</a:t>
            </a:r>
            <a:endParaRPr lang="en-US" sz="850" dirty="0"/>
          </a:p>
          <a:p>
            <a:pPr marL="342900" indent="-342900">
              <a:lnSpc>
                <a:spcPct val="140000"/>
              </a:lnSpc>
              <a:spcAft>
                <a:spcPts val="200"/>
              </a:spcAft>
              <a:buSzPct val="100000"/>
              <a:buChar char="•"/>
            </a:pPr>
            <a:r>
              <a:rPr lang="en-US" sz="850" dirty="0">
                <a:solidFill>
                  <a:srgbClr val="5A6B7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Stakeholder interviews (CCO, CEO, business heads)</a:t>
            </a:r>
            <a:endParaRPr lang="en-US" sz="850" dirty="0"/>
          </a:p>
          <a:p>
            <a:pPr marL="342900" indent="-342900">
              <a:lnSpc>
                <a:spcPct val="140000"/>
              </a:lnSpc>
              <a:spcAft>
                <a:spcPts val="200"/>
              </a:spcAft>
              <a:buSzPct val="100000"/>
              <a:buChar char="•"/>
            </a:pPr>
            <a:r>
              <a:rPr lang="en-US" sz="850" dirty="0">
                <a:solidFill>
                  <a:srgbClr val="5A6B7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Data landscape scan</a:t>
            </a:r>
            <a:endParaRPr lang="en-US" sz="850" dirty="0"/>
          </a:p>
          <a:p>
            <a:pPr marL="342900" indent="-342900">
              <a:lnSpc>
                <a:spcPct val="140000"/>
              </a:lnSpc>
              <a:spcAft>
                <a:spcPts val="200"/>
              </a:spcAft>
              <a:buSzPct val="100000"/>
              <a:buChar char="•"/>
            </a:pPr>
            <a:r>
              <a:rPr lang="en-US" sz="850" dirty="0">
                <a:solidFill>
                  <a:srgbClr val="5A6B7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Quick-win identification</a:t>
            </a:r>
            <a:endParaRPr lang="en-US" sz="850" dirty="0"/>
          </a:p>
          <a:p>
            <a:pPr marL="342900" indent="-342900">
              <a:lnSpc>
                <a:spcPct val="140000"/>
              </a:lnSpc>
              <a:spcAft>
                <a:spcPts val="200"/>
              </a:spcAft>
              <a:buSzPct val="100000"/>
              <a:buChar char="•"/>
            </a:pPr>
            <a:r>
              <a:rPr lang="en-US" sz="850" dirty="0">
                <a:solidFill>
                  <a:srgbClr val="5A6B7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Gap analysis vs. regulatory requirements</a:t>
            </a:r>
            <a:endParaRPr lang="en-US" sz="850" dirty="0"/>
          </a:p>
        </p:txBody>
      </p:sp>
      <p:sp>
        <p:nvSpPr>
          <p:cNvPr id="16" name="Shape 14"/>
          <p:cNvSpPr/>
          <p:nvPr/>
        </p:nvSpPr>
        <p:spPr>
          <a:xfrm>
            <a:off x="3429000" y="2011680"/>
            <a:ext cx="2560320" cy="265176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10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3429000" y="2011680"/>
            <a:ext cx="2560320" cy="54864"/>
          </a:xfrm>
          <a:prstGeom prst="rect">
            <a:avLst/>
          </a:prstGeom>
          <a:solidFill>
            <a:srgbClr val="C9A227"/>
          </a:solidFill>
          <a:ln/>
        </p:spPr>
      </p:sp>
      <p:sp>
        <p:nvSpPr>
          <p:cNvPr id="18" name="Text 16"/>
          <p:cNvSpPr/>
          <p:nvPr/>
        </p:nvSpPr>
        <p:spPr>
          <a:xfrm>
            <a:off x="3566160" y="2148840"/>
            <a:ext cx="1828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spc="150" kern="0" dirty="0">
                <a:solidFill>
                  <a:srgbClr val="5A6B7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Weeks 5–8</a:t>
            </a:r>
            <a:endParaRPr lang="en-US" sz="800" dirty="0"/>
          </a:p>
        </p:txBody>
      </p:sp>
      <p:sp>
        <p:nvSpPr>
          <p:cNvPr id="19" name="Text 17"/>
          <p:cNvSpPr/>
          <p:nvPr/>
        </p:nvSpPr>
        <p:spPr>
          <a:xfrm>
            <a:off x="3566160" y="2377440"/>
            <a:ext cx="2286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D1B2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Design</a:t>
            </a:r>
            <a:endParaRPr lang="en-US" sz="1800" dirty="0"/>
          </a:p>
        </p:txBody>
      </p:sp>
      <p:sp>
        <p:nvSpPr>
          <p:cNvPr id="20" name="Text 18"/>
          <p:cNvSpPr/>
          <p:nvPr/>
        </p:nvSpPr>
        <p:spPr>
          <a:xfrm>
            <a:off x="3566160" y="2788920"/>
            <a:ext cx="228600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lnSpc>
                <a:spcPct val="140000"/>
              </a:lnSpc>
              <a:spcAft>
                <a:spcPts val="200"/>
              </a:spcAft>
              <a:buSzPct val="100000"/>
              <a:buChar char="•"/>
            </a:pPr>
            <a:r>
              <a:rPr lang="en-US" sz="850" dirty="0">
                <a:solidFill>
                  <a:srgbClr val="5A6B7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Revised data strategy aligned to business priorities</a:t>
            </a:r>
            <a:endParaRPr lang="en-US" sz="850" dirty="0"/>
          </a:p>
          <a:p>
            <a:pPr marL="342900" indent="-342900">
              <a:lnSpc>
                <a:spcPct val="140000"/>
              </a:lnSpc>
              <a:spcAft>
                <a:spcPts val="200"/>
              </a:spcAft>
              <a:buSzPct val="100000"/>
              <a:buChar char="•"/>
            </a:pPr>
            <a:r>
              <a:rPr lang="en-US" sz="850" dirty="0">
                <a:solidFill>
                  <a:srgbClr val="5A6B7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Target operating model for Data Office</a:t>
            </a:r>
            <a:endParaRPr lang="en-US" sz="850" dirty="0"/>
          </a:p>
          <a:p>
            <a:pPr marL="342900" indent="-342900">
              <a:lnSpc>
                <a:spcPct val="140000"/>
              </a:lnSpc>
              <a:spcAft>
                <a:spcPts val="200"/>
              </a:spcAft>
              <a:buSzPct val="100000"/>
              <a:buChar char="•"/>
            </a:pPr>
            <a:r>
              <a:rPr lang="en-US" sz="850" dirty="0">
                <a:solidFill>
                  <a:srgbClr val="5A6B7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Governance framework &amp; decision rights</a:t>
            </a:r>
            <a:endParaRPr lang="en-US" sz="850" dirty="0"/>
          </a:p>
          <a:p>
            <a:pPr marL="342900" indent="-342900">
              <a:lnSpc>
                <a:spcPct val="140000"/>
              </a:lnSpc>
              <a:spcAft>
                <a:spcPts val="200"/>
              </a:spcAft>
              <a:buSzPct val="100000"/>
              <a:buChar char="•"/>
            </a:pPr>
            <a:r>
              <a:rPr lang="en-US" sz="850" dirty="0">
                <a:solidFill>
                  <a:srgbClr val="5A6B7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Technology roadmap (rationalise vs. invest)</a:t>
            </a:r>
            <a:endParaRPr lang="en-US" sz="850" dirty="0"/>
          </a:p>
          <a:p>
            <a:pPr marL="342900" indent="-342900">
              <a:lnSpc>
                <a:spcPct val="140000"/>
              </a:lnSpc>
              <a:spcAft>
                <a:spcPts val="200"/>
              </a:spcAft>
              <a:buSzPct val="100000"/>
              <a:buChar char="•"/>
            </a:pPr>
            <a:r>
              <a:rPr lang="en-US" sz="850" dirty="0">
                <a:solidFill>
                  <a:srgbClr val="5A6B7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Benefits framework with measurable KPIs</a:t>
            </a:r>
            <a:endParaRPr lang="en-US" sz="850" dirty="0"/>
          </a:p>
        </p:txBody>
      </p:sp>
      <p:sp>
        <p:nvSpPr>
          <p:cNvPr id="21" name="Shape 19"/>
          <p:cNvSpPr/>
          <p:nvPr/>
        </p:nvSpPr>
        <p:spPr>
          <a:xfrm>
            <a:off x="6217920" y="2011680"/>
            <a:ext cx="2560320" cy="265176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10000"/>
              </a:srgbClr>
            </a:outerShdw>
          </a:effectLst>
        </p:spPr>
      </p:sp>
      <p:sp>
        <p:nvSpPr>
          <p:cNvPr id="22" name="Shape 20"/>
          <p:cNvSpPr/>
          <p:nvPr/>
        </p:nvSpPr>
        <p:spPr>
          <a:xfrm>
            <a:off x="6217920" y="2011680"/>
            <a:ext cx="2560320" cy="54864"/>
          </a:xfrm>
          <a:prstGeom prst="rect">
            <a:avLst/>
          </a:prstGeom>
          <a:solidFill>
            <a:srgbClr val="006B5E"/>
          </a:solidFill>
          <a:ln/>
        </p:spPr>
      </p:sp>
      <p:sp>
        <p:nvSpPr>
          <p:cNvPr id="23" name="Text 21"/>
          <p:cNvSpPr/>
          <p:nvPr/>
        </p:nvSpPr>
        <p:spPr>
          <a:xfrm>
            <a:off x="6355080" y="2148840"/>
            <a:ext cx="1828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spc="150" kern="0" dirty="0">
                <a:solidFill>
                  <a:srgbClr val="5A6B7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Weeks 9–12</a:t>
            </a:r>
            <a:endParaRPr lang="en-US" sz="800" dirty="0"/>
          </a:p>
        </p:txBody>
      </p:sp>
      <p:sp>
        <p:nvSpPr>
          <p:cNvPr id="24" name="Text 22"/>
          <p:cNvSpPr/>
          <p:nvPr/>
        </p:nvSpPr>
        <p:spPr>
          <a:xfrm>
            <a:off x="6355080" y="2377440"/>
            <a:ext cx="2286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D1B2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Deliver</a:t>
            </a:r>
            <a:endParaRPr lang="en-US" sz="1800" dirty="0"/>
          </a:p>
        </p:txBody>
      </p:sp>
      <p:sp>
        <p:nvSpPr>
          <p:cNvPr id="25" name="Text 23"/>
          <p:cNvSpPr/>
          <p:nvPr/>
        </p:nvSpPr>
        <p:spPr>
          <a:xfrm>
            <a:off x="6355080" y="2788920"/>
            <a:ext cx="228600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lnSpc>
                <a:spcPct val="140000"/>
              </a:lnSpc>
              <a:spcAft>
                <a:spcPts val="200"/>
              </a:spcAft>
              <a:buSzPct val="100000"/>
              <a:buChar char="•"/>
            </a:pPr>
            <a:r>
              <a:rPr lang="en-US" sz="850" dirty="0">
                <a:solidFill>
                  <a:srgbClr val="5A6B7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Priority use-case delivery (2–3 quick wins)</a:t>
            </a:r>
            <a:endParaRPr lang="en-US" sz="850" dirty="0"/>
          </a:p>
          <a:p>
            <a:pPr marL="342900" indent="-342900">
              <a:lnSpc>
                <a:spcPct val="140000"/>
              </a:lnSpc>
              <a:spcAft>
                <a:spcPts val="200"/>
              </a:spcAft>
              <a:buSzPct val="100000"/>
              <a:buChar char="•"/>
            </a:pPr>
            <a:r>
              <a:rPr lang="en-US" sz="850" dirty="0">
                <a:solidFill>
                  <a:srgbClr val="5A6B7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Data quality improvement on critical datasets</a:t>
            </a:r>
            <a:endParaRPr lang="en-US" sz="850" dirty="0"/>
          </a:p>
          <a:p>
            <a:pPr marL="342900" indent="-342900">
              <a:lnSpc>
                <a:spcPct val="140000"/>
              </a:lnSpc>
              <a:spcAft>
                <a:spcPts val="200"/>
              </a:spcAft>
              <a:buSzPct val="100000"/>
              <a:buChar char="•"/>
            </a:pPr>
            <a:r>
              <a:rPr lang="en-US" sz="850" dirty="0">
                <a:solidFill>
                  <a:srgbClr val="5A6B7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Governance operationalised (stewards, councils)</a:t>
            </a:r>
            <a:endParaRPr lang="en-US" sz="850" dirty="0"/>
          </a:p>
          <a:p>
            <a:pPr marL="342900" indent="-342900">
              <a:lnSpc>
                <a:spcPct val="140000"/>
              </a:lnSpc>
              <a:spcAft>
                <a:spcPts val="200"/>
              </a:spcAft>
              <a:buSzPct val="100000"/>
              <a:buChar char="•"/>
            </a:pPr>
            <a:r>
              <a:rPr lang="en-US" sz="850" dirty="0">
                <a:solidFill>
                  <a:srgbClr val="5A6B7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Board-ready progress report</a:t>
            </a:r>
            <a:endParaRPr lang="en-US" sz="850" dirty="0"/>
          </a:p>
          <a:p>
            <a:pPr marL="342900" indent="-342900">
              <a:lnSpc>
                <a:spcPct val="140000"/>
              </a:lnSpc>
              <a:spcAft>
                <a:spcPts val="200"/>
              </a:spcAft>
              <a:buSzPct val="100000"/>
              <a:buChar char="•"/>
            </a:pPr>
            <a:r>
              <a:rPr lang="en-US" sz="850" dirty="0">
                <a:solidFill>
                  <a:srgbClr val="5A6B7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Transition plan to BAU</a:t>
            </a:r>
            <a:endParaRPr lang="en-US" sz="850" dirty="0"/>
          </a:p>
        </p:txBody>
      </p:sp>
      <p:sp>
        <p:nvSpPr>
          <p:cNvPr id="26" name="Text 24"/>
          <p:cNvSpPr/>
          <p:nvPr/>
        </p:nvSpPr>
        <p:spPr>
          <a:xfrm>
            <a:off x="3291840" y="2926080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006B5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2000" dirty="0"/>
          </a:p>
        </p:txBody>
      </p:sp>
      <p:sp>
        <p:nvSpPr>
          <p:cNvPr id="27" name="Text 25"/>
          <p:cNvSpPr/>
          <p:nvPr/>
        </p:nvSpPr>
        <p:spPr>
          <a:xfrm>
            <a:off x="6080760" y="2926080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006B5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20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AF6F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320040"/>
          </a:xfrm>
          <a:prstGeom prst="rect">
            <a:avLst/>
          </a:prstGeom>
          <a:solidFill>
            <a:srgbClr val="0D1B2A"/>
          </a:solidFill>
          <a:ln/>
        </p:spPr>
      </p:sp>
      <p:sp>
        <p:nvSpPr>
          <p:cNvPr id="3" name="Text 1"/>
          <p:cNvSpPr/>
          <p:nvPr/>
        </p:nvSpPr>
        <p:spPr>
          <a:xfrm>
            <a:off x="0" y="0"/>
            <a:ext cx="9144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spc="300" kern="0" dirty="0">
                <a:solidFill>
                  <a:srgbClr val="F5EDE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CONFIDENTIAL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640080" y="50292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spc="300" kern="0" dirty="0">
                <a:solidFill>
                  <a:srgbClr val="006B5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ENGAGEMENT</a:t>
            </a:r>
            <a:endParaRPr lang="en-US" sz="900" dirty="0"/>
          </a:p>
        </p:txBody>
      </p:sp>
      <p:sp>
        <p:nvSpPr>
          <p:cNvPr id="5" name="Shape 3"/>
          <p:cNvSpPr/>
          <p:nvPr/>
        </p:nvSpPr>
        <p:spPr>
          <a:xfrm>
            <a:off x="640080" y="777240"/>
            <a:ext cx="548640" cy="0"/>
          </a:xfrm>
          <a:prstGeom prst="line">
            <a:avLst/>
          </a:prstGeom>
          <a:noFill/>
          <a:ln w="25400">
            <a:solidFill>
              <a:srgbClr val="006B5E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640080" y="868680"/>
            <a:ext cx="78638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D1B2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How we work with you</a:t>
            </a:r>
            <a:endParaRPr lang="en-US" sz="2200" dirty="0"/>
          </a:p>
        </p:txBody>
      </p:sp>
      <p:sp>
        <p:nvSpPr>
          <p:cNvPr id="7" name="Shape 5"/>
          <p:cNvSpPr/>
          <p:nvPr/>
        </p:nvSpPr>
        <p:spPr>
          <a:xfrm>
            <a:off x="0" y="4800600"/>
            <a:ext cx="9144000" cy="342900"/>
          </a:xfrm>
          <a:prstGeom prst="rect">
            <a:avLst/>
          </a:prstGeom>
          <a:solidFill>
            <a:srgbClr val="0D1B2A"/>
          </a:solidFill>
          <a:ln/>
        </p:spPr>
      </p:sp>
      <p:sp>
        <p:nvSpPr>
          <p:cNvPr id="8" name="Text 6"/>
          <p:cNvSpPr/>
          <p:nvPr/>
        </p:nvSpPr>
        <p:spPr>
          <a:xfrm>
            <a:off x="457200" y="4800600"/>
            <a:ext cx="3657600" cy="3429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00897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Enterprise.AI</a:t>
            </a:r>
            <a:endParaRPr lang="en-US" sz="800" dirty="0"/>
          </a:p>
        </p:txBody>
      </p:sp>
      <p:sp>
        <p:nvSpPr>
          <p:cNvPr id="9" name="Text 7"/>
          <p:cNvSpPr/>
          <p:nvPr/>
        </p:nvSpPr>
        <p:spPr>
          <a:xfrm>
            <a:off x="8229600" y="4800600"/>
            <a:ext cx="457200" cy="3429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F5EDE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</a:t>
            </a:r>
            <a:endParaRPr lang="en-US" sz="800" dirty="0"/>
          </a:p>
        </p:txBody>
      </p:sp>
      <p:sp>
        <p:nvSpPr>
          <p:cNvPr id="10" name="Shape 8"/>
          <p:cNvSpPr/>
          <p:nvPr/>
        </p:nvSpPr>
        <p:spPr>
          <a:xfrm>
            <a:off x="640080" y="1554480"/>
            <a:ext cx="3840480" cy="310896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10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640080" y="1554480"/>
            <a:ext cx="3840480" cy="54864"/>
          </a:xfrm>
          <a:prstGeom prst="rect">
            <a:avLst/>
          </a:prstGeom>
          <a:solidFill>
            <a:srgbClr val="006B5E"/>
          </a:solidFill>
          <a:ln/>
        </p:spPr>
      </p:sp>
      <p:sp>
        <p:nvSpPr>
          <p:cNvPr id="12" name="Text 10"/>
          <p:cNvSpPr/>
          <p:nvPr/>
        </p:nvSpPr>
        <p:spPr>
          <a:xfrm>
            <a:off x="822960" y="169164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D1B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What we bring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822960" y="2057400"/>
            <a:ext cx="3474720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lnSpc>
                <a:spcPct val="150000"/>
              </a:lnSpc>
              <a:spcAft>
                <a:spcPts val="400"/>
              </a:spcAft>
              <a:buSzPct val="100000"/>
              <a:buChar char="•"/>
            </a:pPr>
            <a:r>
              <a:rPr lang="en-US" sz="1000" dirty="0">
                <a:solidFill>
                  <a:srgbClr val="1A233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Senior practitioners — not a pyramid of juniors</a:t>
            </a:r>
            <a:endParaRPr lang="en-US" sz="1000" dirty="0"/>
          </a:p>
          <a:p>
            <a:pPr marL="342900" indent="-342900">
              <a:lnSpc>
                <a:spcPct val="150000"/>
              </a:lnSpc>
              <a:spcAft>
                <a:spcPts val="400"/>
              </a:spcAft>
              <a:buSzPct val="100000"/>
              <a:buChar char="•"/>
            </a:pPr>
            <a:r>
              <a:rPr lang="en-US" sz="1000" dirty="0">
                <a:solidFill>
                  <a:srgbClr val="1A233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Embedded delivery — we sit inside your programme</a:t>
            </a:r>
            <a:endParaRPr lang="en-US" sz="1000" dirty="0"/>
          </a:p>
          <a:p>
            <a:pPr marL="342900" indent="-342900">
              <a:lnSpc>
                <a:spcPct val="150000"/>
              </a:lnSpc>
              <a:spcAft>
                <a:spcPts val="400"/>
              </a:spcAft>
              <a:buSzPct val="100000"/>
              <a:buChar char="•"/>
            </a:pPr>
            <a:r>
              <a:rPr lang="en-US" sz="1000" dirty="0">
                <a:solidFill>
                  <a:srgbClr val="1A233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Outcome-driven — tied to measurable business KPIs</a:t>
            </a:r>
            <a:endParaRPr lang="en-US" sz="1000" dirty="0"/>
          </a:p>
          <a:p>
            <a:pPr marL="342900" indent="-342900">
              <a:lnSpc>
                <a:spcPct val="150000"/>
              </a:lnSpc>
              <a:spcAft>
                <a:spcPts val="400"/>
              </a:spcAft>
              <a:buSzPct val="100000"/>
              <a:buChar char="•"/>
            </a:pPr>
            <a:r>
              <a:rPr lang="en-US" sz="1000" dirty="0">
                <a:solidFill>
                  <a:srgbClr val="1A233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8–12 week sprints — no open-ended retainers</a:t>
            </a:r>
            <a:endParaRPr lang="en-US" sz="1000" dirty="0"/>
          </a:p>
          <a:p>
            <a:pPr marL="342900" indent="-342900">
              <a:lnSpc>
                <a:spcPct val="150000"/>
              </a:lnSpc>
              <a:spcAft>
                <a:spcPts val="400"/>
              </a:spcAft>
              <a:buSzPct val="100000"/>
              <a:buChar char="•"/>
            </a:pPr>
            <a:r>
              <a:rPr lang="en-US" sz="1000" dirty="0">
                <a:solidFill>
                  <a:srgbClr val="1A233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Regulatory fluency — CBB, SAMA, NDMO, PDPL</a:t>
            </a:r>
            <a:endParaRPr lang="en-US" sz="1000" dirty="0"/>
          </a:p>
          <a:p>
            <a:pPr marL="342900" indent="-342900">
              <a:lnSpc>
                <a:spcPct val="150000"/>
              </a:lnSpc>
              <a:spcAft>
                <a:spcPts val="400"/>
              </a:spcAft>
              <a:buSzPct val="100000"/>
              <a:buChar char="•"/>
            </a:pPr>
            <a:r>
              <a:rPr lang="en-US" sz="1000" dirty="0">
                <a:solidFill>
                  <a:srgbClr val="1A233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Gulf FS specialisation — banking, capital markets, insurance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4663440" y="1554480"/>
            <a:ext cx="3840480" cy="310896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10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4663440" y="1554480"/>
            <a:ext cx="3840480" cy="54864"/>
          </a:xfrm>
          <a:prstGeom prst="rect">
            <a:avLst/>
          </a:prstGeom>
          <a:solidFill>
            <a:srgbClr val="0D1B2A"/>
          </a:solidFill>
          <a:ln/>
        </p:spPr>
      </p:sp>
      <p:sp>
        <p:nvSpPr>
          <p:cNvPr id="16" name="Text 14"/>
          <p:cNvSpPr/>
          <p:nvPr/>
        </p:nvSpPr>
        <p:spPr>
          <a:xfrm>
            <a:off x="4846320" y="169164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D1B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What you get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4846320" y="2057400"/>
            <a:ext cx="3474720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lnSpc>
                <a:spcPct val="150000"/>
              </a:lnSpc>
              <a:spcAft>
                <a:spcPts val="400"/>
              </a:spcAft>
              <a:buSzPct val="100000"/>
              <a:buChar char="•"/>
            </a:pPr>
            <a:r>
              <a:rPr lang="en-US" sz="1000" dirty="0">
                <a:solidFill>
                  <a:srgbClr val="1A233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Revised data strategy aligned to KFH business priorities</a:t>
            </a:r>
            <a:endParaRPr lang="en-US" sz="1000" dirty="0"/>
          </a:p>
          <a:p>
            <a:pPr marL="342900" indent="-342900">
              <a:lnSpc>
                <a:spcPct val="150000"/>
              </a:lnSpc>
              <a:spcAft>
                <a:spcPts val="400"/>
              </a:spcAft>
              <a:buSzPct val="100000"/>
              <a:buChar char="•"/>
            </a:pPr>
            <a:r>
              <a:rPr lang="en-US" sz="1000" dirty="0">
                <a:solidFill>
                  <a:srgbClr val="1A233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Target operating model for the Data Office</a:t>
            </a:r>
            <a:endParaRPr lang="en-US" sz="1000" dirty="0"/>
          </a:p>
          <a:p>
            <a:pPr marL="342900" indent="-342900">
              <a:lnSpc>
                <a:spcPct val="150000"/>
              </a:lnSpc>
              <a:spcAft>
                <a:spcPts val="400"/>
              </a:spcAft>
              <a:buSzPct val="100000"/>
              <a:buChar char="•"/>
            </a:pPr>
            <a:r>
              <a:rPr lang="en-US" sz="1000" dirty="0">
                <a:solidFill>
                  <a:srgbClr val="1A233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Governance framework with clear ownership and decision rights</a:t>
            </a:r>
            <a:endParaRPr lang="en-US" sz="1000" dirty="0"/>
          </a:p>
          <a:p>
            <a:pPr marL="342900" indent="-342900">
              <a:lnSpc>
                <a:spcPct val="150000"/>
              </a:lnSpc>
              <a:spcAft>
                <a:spcPts val="400"/>
              </a:spcAft>
              <a:buSzPct val="100000"/>
              <a:buChar char="•"/>
            </a:pPr>
            <a:r>
              <a:rPr lang="en-US" sz="1000" dirty="0">
                <a:solidFill>
                  <a:srgbClr val="1A233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2–3 quick-win data products delivered in 90 days</a:t>
            </a:r>
            <a:endParaRPr lang="en-US" sz="1000" dirty="0"/>
          </a:p>
          <a:p>
            <a:pPr marL="342900" indent="-342900">
              <a:lnSpc>
                <a:spcPct val="150000"/>
              </a:lnSpc>
              <a:spcAft>
                <a:spcPts val="400"/>
              </a:spcAft>
              <a:buSzPct val="100000"/>
              <a:buChar char="•"/>
            </a:pPr>
            <a:r>
              <a:rPr lang="en-US" sz="1000" dirty="0">
                <a:solidFill>
                  <a:srgbClr val="1A233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Technology roadmap — keep, rationalise, or invest</a:t>
            </a:r>
            <a:endParaRPr lang="en-US" sz="1000" dirty="0"/>
          </a:p>
          <a:p>
            <a:pPr marL="342900" indent="-342900">
              <a:lnSpc>
                <a:spcPct val="150000"/>
              </a:lnSpc>
              <a:spcAft>
                <a:spcPts val="400"/>
              </a:spcAft>
              <a:buSzPct val="100000"/>
              <a:buChar char="•"/>
            </a:pPr>
            <a:r>
              <a:rPr lang="en-US" sz="1000" dirty="0">
                <a:solidFill>
                  <a:srgbClr val="1A233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Board-ready progress report and benefits tracker</a:t>
            </a:r>
            <a:endParaRPr lang="en-US" sz="10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D1B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029200" y="-457200"/>
            <a:ext cx="6400800" cy="6400800"/>
          </a:xfrm>
          <a:prstGeom prst="ellipse">
            <a:avLst/>
          </a:prstGeom>
          <a:solidFill>
            <a:srgbClr val="006B5E">
              <a:alpha val="8000"/>
            </a:srgbClr>
          </a:solidFill>
          <a:ln/>
        </p:spPr>
      </p:sp>
      <p:sp>
        <p:nvSpPr>
          <p:cNvPr id="3" name="Text 1"/>
          <p:cNvSpPr/>
          <p:nvPr/>
        </p:nvSpPr>
        <p:spPr>
          <a:xfrm>
            <a:off x="640080" y="457200"/>
            <a:ext cx="3657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F5EDE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Enterprise</a:t>
            </a:r>
            <a:pPr indent="0" marL="0">
              <a:buNone/>
            </a:pPr>
            <a:r>
              <a:rPr lang="en-US" sz="1400" b="1" dirty="0">
                <a:solidFill>
                  <a:srgbClr val="006B5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.AI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640080" y="1097280"/>
            <a:ext cx="4572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spc="200" kern="0" dirty="0">
                <a:solidFill>
                  <a:srgbClr val="F5EDE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ABOUT US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640080" y="1737360"/>
            <a:ext cx="4572000" cy="1828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50000"/>
              </a:lnSpc>
              <a:buNone/>
            </a:pPr>
            <a:r>
              <a:rPr lang="en-US" sz="1200" dirty="0">
                <a:solidFill>
                  <a:srgbClr val="F5EDE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Enterprise.AI is a boutique advisory firm for Gulf financial services institutions that want senior practitioners embedded in the work — not a pyramid of juniors writing slides.</a:t>
            </a:r>
            <a:endParaRPr lang="en-US" sz="1200" dirty="0"/>
          </a:p>
          <a:p>
            <a:pPr indent="0" marL="0">
              <a:lnSpc>
                <a:spcPct val="150000"/>
              </a:lnSpc>
              <a:buNone/>
            </a:pPr>
            <a:endParaRPr lang="en-US" sz="1200" dirty="0"/>
          </a:p>
          <a:p>
            <a:pPr indent="0" marL="0">
              <a:lnSpc>
                <a:spcPct val="150000"/>
              </a:lnSpc>
              <a:buNone/>
            </a:pPr>
            <a:r>
              <a:rPr lang="en-US" sz="1200" dirty="0">
                <a:solidFill>
                  <a:srgbClr val="F5EDE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We bring a network of experienced consultants and subject matter experts across banking, capital markets, and insurance — with deep expertise in data strategy, AI governance, and business transformation.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640080" y="3749040"/>
            <a:ext cx="14630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06B5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25+</a:t>
            </a:r>
            <a:endParaRPr lang="en-US" sz="2800" dirty="0"/>
          </a:p>
        </p:txBody>
      </p:sp>
      <p:sp>
        <p:nvSpPr>
          <p:cNvPr id="7" name="Text 5"/>
          <p:cNvSpPr/>
          <p:nvPr/>
        </p:nvSpPr>
        <p:spPr>
          <a:xfrm>
            <a:off x="640080" y="4160520"/>
            <a:ext cx="14630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F5EDE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Years in Industry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2468880" y="3749040"/>
            <a:ext cx="14630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06B5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4</a:t>
            </a:r>
            <a:endParaRPr lang="en-US" sz="2800" dirty="0"/>
          </a:p>
        </p:txBody>
      </p:sp>
      <p:sp>
        <p:nvSpPr>
          <p:cNvPr id="9" name="Text 7"/>
          <p:cNvSpPr/>
          <p:nvPr/>
        </p:nvSpPr>
        <p:spPr>
          <a:xfrm>
            <a:off x="2468880" y="4160520"/>
            <a:ext cx="14630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F5EDE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Gulf markets</a:t>
            </a:r>
            <a:endParaRPr lang="en-US" sz="900" dirty="0"/>
          </a:p>
        </p:txBody>
      </p:sp>
      <p:sp>
        <p:nvSpPr>
          <p:cNvPr id="10" name="Text 8"/>
          <p:cNvSpPr/>
          <p:nvPr/>
        </p:nvSpPr>
        <p:spPr>
          <a:xfrm>
            <a:off x="4297680" y="3749040"/>
            <a:ext cx="14630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06B5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10+</a:t>
            </a:r>
            <a:endParaRPr lang="en-US" sz="2800" dirty="0"/>
          </a:p>
        </p:txBody>
      </p:sp>
      <p:sp>
        <p:nvSpPr>
          <p:cNvPr id="11" name="Text 9"/>
          <p:cNvSpPr/>
          <p:nvPr/>
        </p:nvSpPr>
        <p:spPr>
          <a:xfrm>
            <a:off x="4297680" y="4160520"/>
            <a:ext cx="14630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F5EDE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Regulators engaged</a:t>
            </a:r>
            <a:endParaRPr lang="en-US" sz="900" dirty="0"/>
          </a:p>
        </p:txBody>
      </p:sp>
      <p:sp>
        <p:nvSpPr>
          <p:cNvPr id="12" name="Shape 10"/>
          <p:cNvSpPr/>
          <p:nvPr/>
        </p:nvSpPr>
        <p:spPr>
          <a:xfrm>
            <a:off x="0" y="4800600"/>
            <a:ext cx="9144000" cy="342900"/>
          </a:xfrm>
          <a:prstGeom prst="rect">
            <a:avLst/>
          </a:prstGeom>
          <a:solidFill>
            <a:srgbClr val="006B5E">
              <a:alpha val="30000"/>
            </a:srgbClr>
          </a:solidFill>
          <a:ln/>
        </p:spPr>
      </p:sp>
      <p:sp>
        <p:nvSpPr>
          <p:cNvPr id="13" name="Text 11"/>
          <p:cNvSpPr/>
          <p:nvPr/>
        </p:nvSpPr>
        <p:spPr>
          <a:xfrm>
            <a:off x="0" y="4800600"/>
            <a:ext cx="9144000" cy="3429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advisor@rodney-ai.com  |  rodney-ai.com</a:t>
            </a:r>
            <a:endParaRPr lang="en-US" sz="9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AF6F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320040"/>
          </a:xfrm>
          <a:prstGeom prst="rect">
            <a:avLst/>
          </a:prstGeom>
          <a:solidFill>
            <a:srgbClr val="0D1B2A"/>
          </a:solidFill>
          <a:ln/>
        </p:spPr>
      </p:sp>
      <p:sp>
        <p:nvSpPr>
          <p:cNvPr id="3" name="Text 1"/>
          <p:cNvSpPr/>
          <p:nvPr/>
        </p:nvSpPr>
        <p:spPr>
          <a:xfrm>
            <a:off x="0" y="0"/>
            <a:ext cx="9144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spc="300" kern="0" dirty="0">
                <a:solidFill>
                  <a:srgbClr val="F5EDE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CONFIDENTIAL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640080" y="50292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spc="300" kern="0" dirty="0">
                <a:solidFill>
                  <a:srgbClr val="006B5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TEAM</a:t>
            </a:r>
            <a:endParaRPr lang="en-US" sz="900" dirty="0"/>
          </a:p>
        </p:txBody>
      </p:sp>
      <p:sp>
        <p:nvSpPr>
          <p:cNvPr id="5" name="Shape 3"/>
          <p:cNvSpPr/>
          <p:nvPr/>
        </p:nvSpPr>
        <p:spPr>
          <a:xfrm>
            <a:off x="640080" y="777240"/>
            <a:ext cx="548640" cy="0"/>
          </a:xfrm>
          <a:prstGeom prst="line">
            <a:avLst/>
          </a:prstGeom>
          <a:noFill/>
          <a:ln w="25400">
            <a:solidFill>
              <a:srgbClr val="006B5E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640080" y="868680"/>
            <a:ext cx="78638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D1B2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Meet the team</a:t>
            </a:r>
            <a:endParaRPr lang="en-US" sz="2200" dirty="0"/>
          </a:p>
        </p:txBody>
      </p:sp>
      <p:sp>
        <p:nvSpPr>
          <p:cNvPr id="7" name="Shape 5"/>
          <p:cNvSpPr/>
          <p:nvPr/>
        </p:nvSpPr>
        <p:spPr>
          <a:xfrm>
            <a:off x="0" y="4800600"/>
            <a:ext cx="9144000" cy="342900"/>
          </a:xfrm>
          <a:prstGeom prst="rect">
            <a:avLst/>
          </a:prstGeom>
          <a:solidFill>
            <a:srgbClr val="0D1B2A"/>
          </a:solidFill>
          <a:ln/>
        </p:spPr>
      </p:sp>
      <p:sp>
        <p:nvSpPr>
          <p:cNvPr id="8" name="Text 6"/>
          <p:cNvSpPr/>
          <p:nvPr/>
        </p:nvSpPr>
        <p:spPr>
          <a:xfrm>
            <a:off x="457200" y="4800600"/>
            <a:ext cx="3657600" cy="3429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00897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Enterprise.AI</a:t>
            </a:r>
            <a:endParaRPr lang="en-US" sz="800" dirty="0"/>
          </a:p>
        </p:txBody>
      </p:sp>
      <p:sp>
        <p:nvSpPr>
          <p:cNvPr id="9" name="Text 7"/>
          <p:cNvSpPr/>
          <p:nvPr/>
        </p:nvSpPr>
        <p:spPr>
          <a:xfrm>
            <a:off x="8229600" y="4800600"/>
            <a:ext cx="457200" cy="3429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F5EDE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</a:t>
            </a:r>
            <a:endParaRPr lang="en-US" sz="800" dirty="0"/>
          </a:p>
        </p:txBody>
      </p:sp>
      <p:pic>
        <p:nvPicPr>
          <p:cNvPr id="10" name="Image 0" descr="/sessions/cool-elegant-cori/stephen_photo.jpe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31520" y="1645920"/>
            <a:ext cx="1005840" cy="1005840"/>
          </a:xfrm>
          <a:prstGeom prst="ellipse">
            <a:avLst/>
          </a:prstGeom>
        </p:spPr>
      </p:pic>
      <p:sp>
        <p:nvSpPr>
          <p:cNvPr id="11" name="Text 8"/>
          <p:cNvSpPr/>
          <p:nvPr/>
        </p:nvSpPr>
        <p:spPr>
          <a:xfrm>
            <a:off x="1920240" y="164592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D1B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Rodney Coutinho  |  Founder</a:t>
            </a:r>
            <a:endParaRPr lang="en-US" sz="1300" dirty="0"/>
          </a:p>
        </p:txBody>
      </p:sp>
      <p:sp>
        <p:nvSpPr>
          <p:cNvPr id="12" name="Text 9"/>
          <p:cNvSpPr/>
          <p:nvPr/>
        </p:nvSpPr>
        <p:spPr>
          <a:xfrm>
            <a:off x="1920240" y="1965960"/>
            <a:ext cx="65836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40000"/>
              </a:lnSpc>
              <a:buNone/>
            </a:pPr>
            <a:r>
              <a:rPr lang="en-US" sz="1000" dirty="0">
                <a:solidFill>
                  <a:srgbClr val="5A6B7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Partner-level AI and data advisory across Deloitte, EY, and global exchanges. 25+ years building, governing, and scaling AI and data platforms in financial services — from trading surveillance systems to sovereign AI programmes across the Gulf and UK. Board-level advisory on AI strategy, governance, and enterprise adoption.</a:t>
            </a:r>
            <a:endParaRPr lang="en-US" sz="1000" dirty="0"/>
          </a:p>
        </p:txBody>
      </p:sp>
      <p:pic>
        <p:nvPicPr>
          <p:cNvPr id="13" name="Image 1" descr="/sessions/cool-elegant-cori/rodney_photo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1520" y="3017520"/>
            <a:ext cx="1005840" cy="1005840"/>
          </a:xfrm>
          <a:prstGeom prst="ellipse">
            <a:avLst/>
          </a:prstGeom>
        </p:spPr>
      </p:pic>
      <p:sp>
        <p:nvSpPr>
          <p:cNvPr id="14" name="Text 10"/>
          <p:cNvSpPr/>
          <p:nvPr/>
        </p:nvSpPr>
        <p:spPr>
          <a:xfrm>
            <a:off x="1920240" y="301752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D1B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Stephen Yeung  |  Partner</a:t>
            </a:r>
            <a:endParaRPr lang="en-US" sz="1300" dirty="0"/>
          </a:p>
        </p:txBody>
      </p:sp>
      <p:sp>
        <p:nvSpPr>
          <p:cNvPr id="15" name="Text 11"/>
          <p:cNvSpPr/>
          <p:nvPr/>
        </p:nvSpPr>
        <p:spPr>
          <a:xfrm>
            <a:off x="1920240" y="3337560"/>
            <a:ext cx="65836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40000"/>
              </a:lnSpc>
              <a:buNone/>
            </a:pPr>
            <a:r>
              <a:rPr lang="en-US" sz="1000" dirty="0">
                <a:solidFill>
                  <a:srgbClr val="5A6B7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Industry leader in data and AI strategy, governance, and business transformation, with 20+ years advisory experience across global banking and wealth management. Senior data leadership roles at Fidelity and HSBC, helping organisations build data-driven capabilities and deliver complex transformation across financial services.</a:t>
            </a:r>
            <a:endParaRPr lang="en-US" sz="1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KFH Bahrain — Data Remediation &amp; Transformation</dc:title>
  <dc:subject>PptxGenJS Presentation</dc:subject>
  <dc:creator>Enterprise.AI</dc:creator>
  <cp:lastModifiedBy>Enterprise.AI</cp:lastModifiedBy>
  <cp:revision>1</cp:revision>
  <dcterms:created xsi:type="dcterms:W3CDTF">2026-05-12T05:15:25Z</dcterms:created>
  <dcterms:modified xsi:type="dcterms:W3CDTF">2026-05-12T05:15:25Z</dcterms:modified>
</cp:coreProperties>
</file>