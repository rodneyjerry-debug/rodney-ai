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ney Coutinho" userId="209a889691aee9f3" providerId="LiveId" clId="{77A27777-7345-430D-B1E1-F7BAFB49B08C}"/>
    <pc:docChg chg="modSld">
      <pc:chgData name="Rodney Coutinho" userId="209a889691aee9f3" providerId="LiveId" clId="{77A27777-7345-430D-B1E1-F7BAFB49B08C}" dt="2026-05-12T05:05:05.859" v="30" actId="20577"/>
      <pc:docMkLst>
        <pc:docMk/>
      </pc:docMkLst>
      <pc:sldChg chg="modSp mod">
        <pc:chgData name="Rodney Coutinho" userId="209a889691aee9f3" providerId="LiveId" clId="{77A27777-7345-430D-B1E1-F7BAFB49B08C}" dt="2026-05-12T05:05:05.859" v="30" actId="20577"/>
        <pc:sldMkLst>
          <pc:docMk/>
          <pc:sldMk cId="0" sldId="265"/>
        </pc:sldMkLst>
        <pc:spChg chg="mod">
          <ac:chgData name="Rodney Coutinho" userId="209a889691aee9f3" providerId="LiveId" clId="{77A27777-7345-430D-B1E1-F7BAFB49B08C}" dt="2026-05-12T05:05:05.859" v="30" actId="20577"/>
          <ac:spMkLst>
            <pc:docMk/>
            <pc:sldMk cId="0" sldId="265"/>
            <ac:spMk id="12" creationId="{00000000-0000-0000-0000-000000000000}"/>
          </ac:spMkLst>
        </pc:spChg>
        <pc:picChg chg="mod">
          <ac:chgData name="Rodney Coutinho" userId="209a889691aee9f3" providerId="LiveId" clId="{77A27777-7345-430D-B1E1-F7BAFB49B08C}" dt="2026-05-12T05:04:11.488" v="2" actId="1076"/>
          <ac:picMkLst>
            <pc:docMk/>
            <pc:sldMk cId="0" sldId="265"/>
            <ac:picMk id="10" creationId="{00000000-0000-0000-0000-000000000000}"/>
          </ac:picMkLst>
        </pc:picChg>
        <pc:picChg chg="mod">
          <ac:chgData name="Rodney Coutinho" userId="209a889691aee9f3" providerId="LiveId" clId="{77A27777-7345-430D-B1E1-F7BAFB49B08C}" dt="2026-05-12T05:04:06.004" v="1" actId="1076"/>
          <ac:picMkLst>
            <pc:docMk/>
            <pc:sldMk cId="0" sldId="265"/>
            <ac:picMk id="13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203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-914400"/>
            <a:ext cx="7315200" cy="7315200"/>
          </a:xfrm>
          <a:prstGeom prst="ellipse">
            <a:avLst/>
          </a:prstGeom>
          <a:solidFill>
            <a:srgbClr val="006B5E">
              <a:alpha val="8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Shape 1"/>
          <p:cNvSpPr/>
          <p:nvPr/>
        </p:nvSpPr>
        <p:spPr>
          <a:xfrm>
            <a:off x="6400800" y="914400"/>
            <a:ext cx="4572000" cy="4572000"/>
          </a:xfrm>
          <a:prstGeom prst="ellipse">
            <a:avLst/>
          </a:prstGeom>
          <a:solidFill>
            <a:srgbClr val="006B5E">
              <a:alpha val="5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</a:t>
            </a:r>
            <a:r>
              <a:rPr lang="en-US" sz="14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KFH Bahrain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Remediation &amp;</a:t>
            </a:r>
            <a:endParaRPr lang="en-US" sz="3600" dirty="0"/>
          </a:p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7280" cy="0"/>
          </a:xfrm>
          <a:prstGeom prst="line">
            <a:avLst/>
          </a:prstGeom>
          <a:noFill/>
          <a:ln w="381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Paper  |  Confidential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6B5E">
              <a:alpha val="3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1" name="Text 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 ·  GOVERN  ·  UNLOCK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SITUATION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data programmes stall — and what to do about 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5544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KFH has invested significantly in data capabilities. Despite this, the programme has not delivered the business outcomes expected. This is not unusual — industry-wide, data initiatives fail at a high rate. The root causes are predictable and fixable.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24028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2" name="Shape 10"/>
          <p:cNvSpPr/>
          <p:nvPr/>
        </p:nvSpPr>
        <p:spPr>
          <a:xfrm>
            <a:off x="640080" y="2240280"/>
            <a:ext cx="54864" cy="10972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ext 11"/>
          <p:cNvSpPr/>
          <p:nvPr/>
        </p:nvSpPr>
        <p:spPr>
          <a:xfrm>
            <a:off x="868680" y="2331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Misalignment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2606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initiatives not anchored to revenue, risk, or regulatory priorities. Too many workstreams solving problems the business hasn't asked for.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224028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54864" cy="10972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7" name="Text 15"/>
          <p:cNvSpPr/>
          <p:nvPr/>
        </p:nvSpPr>
        <p:spPr>
          <a:xfrm>
            <a:off x="4983480" y="2331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Overly Complex Delivery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2606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Programmes try to boil the ocean. Long lead times, delayed benefits, eroding stakeholder confidence. Data maturity is a journey — not a big bang.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34747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0" name="Shape 18"/>
          <p:cNvSpPr/>
          <p:nvPr/>
        </p:nvSpPr>
        <p:spPr>
          <a:xfrm>
            <a:off x="640080" y="3474720"/>
            <a:ext cx="54864" cy="10972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1" name="Text 19"/>
          <p:cNvSpPr/>
          <p:nvPr/>
        </p:nvSpPr>
        <p:spPr>
          <a:xfrm>
            <a:off x="868680" y="35661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Unclear Ownership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38404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 fragmented across business, technology, risk, and compliance. No single point of decision-making. Governance without teeth.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54880" y="3474720"/>
            <a:ext cx="37490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4" name="Shape 22"/>
          <p:cNvSpPr/>
          <p:nvPr/>
        </p:nvSpPr>
        <p:spPr>
          <a:xfrm>
            <a:off x="4754880" y="3474720"/>
            <a:ext cx="54864" cy="10972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5" name="Text 23"/>
          <p:cNvSpPr/>
          <p:nvPr/>
        </p:nvSpPr>
        <p:spPr>
          <a:xfrm>
            <a:off x="4983480" y="35661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Adoption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38404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products built but not used. Low literacy, no champions, no feedback loops. Benefits evaporate without sustained business engagement.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APPROACH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restore delivery confidence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establish a fact-based view of programme health — assessing whether each initiative is solving the right problem, whether the solution is fit for purpose, and whether the organisation can deliver and sustain the outcome.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1508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2" name="Shape 10"/>
          <p:cNvSpPr/>
          <p:nvPr/>
        </p:nvSpPr>
        <p:spPr>
          <a:xfrm>
            <a:off x="640080" y="2103120"/>
            <a:ext cx="150876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ext 11"/>
          <p:cNvSpPr/>
          <p:nvPr/>
        </p:nvSpPr>
        <p:spPr>
          <a:xfrm>
            <a:off x="731520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2560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objectives, priorities, and regulatory expectations still aligned?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86000" y="2103120"/>
            <a:ext cx="1508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7" name="Shape 15"/>
          <p:cNvSpPr/>
          <p:nvPr/>
        </p:nvSpPr>
        <p:spPr>
          <a:xfrm>
            <a:off x="2286000" y="2103120"/>
            <a:ext cx="150876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ext 16"/>
          <p:cNvSpPr/>
          <p:nvPr/>
        </p:nvSpPr>
        <p:spPr>
          <a:xfrm>
            <a:off x="2377440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77440" y="2560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Effectiveness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77440" y="32004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 current design and technology deliver intended outcomes?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931920" y="2103120"/>
            <a:ext cx="1508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2" name="Shape 20"/>
          <p:cNvSpPr/>
          <p:nvPr/>
        </p:nvSpPr>
        <p:spPr>
          <a:xfrm>
            <a:off x="3931920" y="2103120"/>
            <a:ext cx="150876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Text 21"/>
          <p:cNvSpPr/>
          <p:nvPr/>
        </p:nvSpPr>
        <p:spPr>
          <a:xfrm>
            <a:off x="4023360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023360" y="2560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23360" y="32004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governance, execution discipline, and resource capability adequate?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577840" y="2103120"/>
            <a:ext cx="1508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7" name="Shape 25"/>
          <p:cNvSpPr/>
          <p:nvPr/>
        </p:nvSpPr>
        <p:spPr>
          <a:xfrm>
            <a:off x="5577840" y="2103120"/>
            <a:ext cx="150876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8" name="Text 26"/>
          <p:cNvSpPr/>
          <p:nvPr/>
        </p:nvSpPr>
        <p:spPr>
          <a:xfrm>
            <a:off x="5669280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669280" y="2560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&amp;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0" y="32004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decision rights, stakeholder alignment, and funding clear?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223760" y="2103120"/>
            <a:ext cx="150876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32" name="Shape 30"/>
          <p:cNvSpPr/>
          <p:nvPr/>
        </p:nvSpPr>
        <p:spPr>
          <a:xfrm>
            <a:off x="7223760" y="2103120"/>
            <a:ext cx="150876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3" name="Text 31"/>
          <p:cNvSpPr/>
          <p:nvPr/>
        </p:nvSpPr>
        <p:spPr>
          <a:xfrm>
            <a:off x="7315200" y="22402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315200" y="2560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0" y="32004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adoption plan in place? Are processes sustainable post-implementation?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STRATEGY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unlock value from data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data strategy connects business priorities to the data capabilities, technology foundations and operating model required to create sustained value.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01168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2" name="Shape 10"/>
          <p:cNvSpPr/>
          <p:nvPr/>
        </p:nvSpPr>
        <p:spPr>
          <a:xfrm>
            <a:off x="640080" y="2011680"/>
            <a:ext cx="192024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Management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743200"/>
            <a:ext cx="1371600" cy="0"/>
          </a:xfrm>
          <a:prstGeom prst="line">
            <a:avLst/>
          </a:prstGeom>
          <a:noFill/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5" name="Text 13"/>
          <p:cNvSpPr/>
          <p:nvPr/>
        </p:nvSpPr>
        <p:spPr>
          <a:xfrm>
            <a:off x="777240" y="2834640"/>
            <a:ext cx="1645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 · Classification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· Lineage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&amp; Reference Data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&amp; Protection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· Data Dictionary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0" y="201168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7" name="Shape 15"/>
          <p:cNvSpPr/>
          <p:nvPr/>
        </p:nvSpPr>
        <p:spPr>
          <a:xfrm>
            <a:off x="2743200" y="2011680"/>
            <a:ext cx="1920240" cy="54864"/>
          </a:xfrm>
          <a:prstGeom prst="rect">
            <a:avLst/>
          </a:prstGeom>
          <a:solidFill>
            <a:srgbClr val="1A2D4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ext 16"/>
          <p:cNvSpPr/>
          <p:nvPr/>
        </p:nvSpPr>
        <p:spPr>
          <a:xfrm>
            <a:off x="288036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2743200"/>
            <a:ext cx="1371600" cy="0"/>
          </a:xfrm>
          <a:prstGeom prst="line">
            <a:avLst/>
          </a:prstGeom>
          <a:noFill/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Text 18"/>
          <p:cNvSpPr/>
          <p:nvPr/>
        </p:nvSpPr>
        <p:spPr>
          <a:xfrm>
            <a:off x="2880360" y="2834640"/>
            <a:ext cx="1645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&amp; Responsibilities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 Committees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Model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&amp; Controls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Workforce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846320" y="201168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2" name="Shape 20"/>
          <p:cNvSpPr/>
          <p:nvPr/>
        </p:nvSpPr>
        <p:spPr>
          <a:xfrm>
            <a:off x="4846320" y="2011680"/>
            <a:ext cx="192024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Text 21"/>
          <p:cNvSpPr/>
          <p:nvPr/>
        </p:nvSpPr>
        <p:spPr>
          <a:xfrm>
            <a:off x="498348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Enablement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83480" y="2743200"/>
            <a:ext cx="1371600" cy="0"/>
          </a:xfrm>
          <a:prstGeom prst="line">
            <a:avLst/>
          </a:prstGeom>
          <a:noFill/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5" name="Text 23"/>
          <p:cNvSpPr/>
          <p:nvPr/>
        </p:nvSpPr>
        <p:spPr>
          <a:xfrm>
            <a:off x="4983480" y="2834640"/>
            <a:ext cx="1645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Tooling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Management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Data Solution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Data Platforms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&amp; Visualisation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949440" y="201168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920240" cy="54864"/>
          </a:xfrm>
          <a:prstGeom prst="rect">
            <a:avLst/>
          </a:prstGeom>
          <a:solidFill>
            <a:srgbClr val="1A2D4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8" name="Text 26"/>
          <p:cNvSpPr/>
          <p:nvPr/>
        </p:nvSpPr>
        <p:spPr>
          <a:xfrm>
            <a:off x="7086600" y="21945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86600" y="2743200"/>
            <a:ext cx="1371600" cy="0"/>
          </a:xfrm>
          <a:prstGeom prst="line">
            <a:avLst/>
          </a:prstGeom>
          <a:noFill/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Text 28"/>
          <p:cNvSpPr/>
          <p:nvPr/>
        </p:nvSpPr>
        <p:spPr>
          <a:xfrm>
            <a:off x="7086600" y="2834640"/>
            <a:ext cx="1645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 &amp; Dashboards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Self-Service Analytics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Data Products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Marketplace</a:t>
            </a:r>
            <a:endParaRPr lang="en-US" sz="8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&amp; Advanced Analytics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0080" y="4617720"/>
            <a:ext cx="7863840" cy="45720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ORGANISATION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your data organisation can look like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structure depends on business maturity, regulatory needs, data ambition, and the degree of central control required.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19202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2" name="Shape 10"/>
          <p:cNvSpPr/>
          <p:nvPr/>
        </p:nvSpPr>
        <p:spPr>
          <a:xfrm>
            <a:off x="640080" y="1920240"/>
            <a:ext cx="2560320" cy="411480"/>
          </a:xfrm>
          <a:prstGeom prst="rect">
            <a:avLst/>
          </a:prstGeom>
          <a:solidFill>
            <a:srgbClr val="1A2D4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ext 11"/>
          <p:cNvSpPr/>
          <p:nvPr/>
        </p:nvSpPr>
        <p:spPr>
          <a:xfrm>
            <a:off x="640080" y="19202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Centralised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2423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central data function owns strategy, governance, standards, tooling, delivery, and analytics.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</a:t>
            </a: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Consistency, control, regulatory confidence, standardisation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77240" y="3749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</a:t>
            </a: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become detached from business priorities or create delivery bottlenecks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29000" y="19202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8" name="Shape 16"/>
          <p:cNvSpPr/>
          <p:nvPr/>
        </p:nvSpPr>
        <p:spPr>
          <a:xfrm>
            <a:off x="3429000" y="1920240"/>
            <a:ext cx="2560320" cy="411480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9" name="Text 17"/>
          <p:cNvSpPr/>
          <p:nvPr/>
        </p:nvSpPr>
        <p:spPr>
          <a:xfrm>
            <a:off x="3429000" y="19202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423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lean central function sets strategy, standards, and shared platforms. Business units own use cases and adoption.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6616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</a:t>
            </a: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Balancing enterprise control with business ownership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566160" y="3749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</a:t>
            </a: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clear accountability, strong coordination, and disciplined governance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977640" y="429768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17920" y="19202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5" name="Shape 23"/>
          <p:cNvSpPr/>
          <p:nvPr/>
        </p:nvSpPr>
        <p:spPr>
          <a:xfrm>
            <a:off x="6217920" y="1920240"/>
            <a:ext cx="2560320" cy="411480"/>
          </a:xfrm>
          <a:prstGeom prst="rect">
            <a:avLst/>
          </a:prstGeom>
          <a:solidFill>
            <a:srgbClr val="1A2D42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6" name="Text 24"/>
          <p:cNvSpPr/>
          <p:nvPr/>
        </p:nvSpPr>
        <p:spPr>
          <a:xfrm>
            <a:off x="6217920" y="19202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Decentralised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55080" y="2423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capability sits within individual business units, each managing their own priorities and delivery.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55080" y="3200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for: </a:t>
            </a: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Speed, business proximity, local ownership, tailored solutions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55080" y="3749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</a:t>
            </a: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Duplication, inconsistent standards, fragmented tooling, weaker enterprise control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OFFICE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capabilities &amp; reporting options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successful Data Office requires both the right capabilities and the right organisational mandate.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1920240"/>
            <a:ext cx="1874520" cy="457200"/>
          </a:xfrm>
          <a:prstGeom prst="rect">
            <a:avLst/>
          </a:prstGeom>
          <a:solidFill>
            <a:srgbClr val="006B5E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640080" y="192024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Strategy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97480" y="1920240"/>
            <a:ext cx="1874520" cy="457200"/>
          </a:xfrm>
          <a:prstGeom prst="rect">
            <a:avLst/>
          </a:prstGeom>
          <a:solidFill>
            <a:srgbClr val="006B5E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4" name="Text 12"/>
          <p:cNvSpPr/>
          <p:nvPr/>
        </p:nvSpPr>
        <p:spPr>
          <a:xfrm>
            <a:off x="2697480" y="192024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920240"/>
            <a:ext cx="1874520" cy="457200"/>
          </a:xfrm>
          <a:prstGeom prst="rect">
            <a:avLst/>
          </a:prstGeom>
          <a:solidFill>
            <a:srgbClr val="006B5E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6" name="Text 14"/>
          <p:cNvSpPr/>
          <p:nvPr/>
        </p:nvSpPr>
        <p:spPr>
          <a:xfrm>
            <a:off x="4754880" y="192024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Privacy &amp; Protection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12280" y="1920240"/>
            <a:ext cx="1874520" cy="457200"/>
          </a:xfrm>
          <a:prstGeom prst="rect">
            <a:avLst/>
          </a:prstGeom>
          <a:solidFill>
            <a:srgbClr val="006B5E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18" name="Text 16"/>
          <p:cNvSpPr/>
          <p:nvPr/>
        </p:nvSpPr>
        <p:spPr>
          <a:xfrm>
            <a:off x="6812280" y="192024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Architecture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51460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0" name="Text 18"/>
          <p:cNvSpPr/>
          <p:nvPr/>
        </p:nvSpPr>
        <p:spPr>
          <a:xfrm>
            <a:off x="640080" y="25146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Analytics, Reporting &amp;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697480" y="251460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2" name="Text 20"/>
          <p:cNvSpPr/>
          <p:nvPr/>
        </p:nvSpPr>
        <p:spPr>
          <a:xfrm>
            <a:off x="2697480" y="25146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Culture &amp; Adoption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4" name="Text 22"/>
          <p:cNvSpPr/>
          <p:nvPr/>
        </p:nvSpPr>
        <p:spPr>
          <a:xfrm>
            <a:off x="4754880" y="25146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Delivery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12280" y="251460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6" name="Text 24"/>
          <p:cNvSpPr/>
          <p:nvPr/>
        </p:nvSpPr>
        <p:spPr>
          <a:xfrm>
            <a:off x="6812280" y="25146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40080" y="310896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28" name="Text 26"/>
          <p:cNvSpPr/>
          <p:nvPr/>
        </p:nvSpPr>
        <p:spPr>
          <a:xfrm>
            <a:off x="640080" y="3108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&amp; Catalogue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697480" y="310896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0" name="Text 28"/>
          <p:cNvSpPr/>
          <p:nvPr/>
        </p:nvSpPr>
        <p:spPr>
          <a:xfrm>
            <a:off x="2697480" y="3108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Modelling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54880" y="310896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2" name="Text 30"/>
          <p:cNvSpPr/>
          <p:nvPr/>
        </p:nvSpPr>
        <p:spPr>
          <a:xfrm>
            <a:off x="4754880" y="3108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Platforms &amp; Tooling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12280" y="3108960"/>
            <a:ext cx="18745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4" name="Text 32"/>
          <p:cNvSpPr/>
          <p:nvPr/>
        </p:nvSpPr>
        <p:spPr>
          <a:xfrm>
            <a:off x="6812280" y="3108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Management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0080" y="3840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options — where the Data Office sits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416052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37" name="Text 35"/>
          <p:cNvSpPr/>
          <p:nvPr/>
        </p:nvSpPr>
        <p:spPr>
          <a:xfrm>
            <a:off x="73152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→ CDAO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1520" y="44074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mandate, direct board access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429000" y="416052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0" name="Text 38"/>
          <p:cNvSpPr/>
          <p:nvPr/>
        </p:nvSpPr>
        <p:spPr>
          <a:xfrm>
            <a:off x="352044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→ CDAO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520440" y="44074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alignment, process integration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217920" y="4160520"/>
            <a:ext cx="25603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4CBBF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43" name="Text 41"/>
          <p:cNvSpPr/>
          <p:nvPr/>
        </p:nvSpPr>
        <p:spPr>
          <a:xfrm>
            <a:off x="630936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CITO → CDAO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09360" y="44074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alignment, platform synergy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PLAN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 wins and early momentum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recommend a phased approach that delivers visible results within 90 days while building the foundation for sustainable transformation.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011680"/>
            <a:ext cx="256032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2" name="Shape 10"/>
          <p:cNvSpPr/>
          <p:nvPr/>
        </p:nvSpPr>
        <p:spPr>
          <a:xfrm>
            <a:off x="640080" y="2011680"/>
            <a:ext cx="2560320" cy="54864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ext 11"/>
          <p:cNvSpPr/>
          <p:nvPr/>
        </p:nvSpPr>
        <p:spPr>
          <a:xfrm>
            <a:off x="777240" y="2148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1–4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7724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27889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 health assessment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interviews (CCO, CEO, business heads)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landscape scan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Quick-win identification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analysis vs. regulatory requirements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29000" y="2011680"/>
            <a:ext cx="256032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7" name="Shape 15"/>
          <p:cNvSpPr/>
          <p:nvPr/>
        </p:nvSpPr>
        <p:spPr>
          <a:xfrm>
            <a:off x="3429000" y="2011680"/>
            <a:ext cx="2560320" cy="5486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8" name="Text 16"/>
          <p:cNvSpPr/>
          <p:nvPr/>
        </p:nvSpPr>
        <p:spPr>
          <a:xfrm>
            <a:off x="3566160" y="2148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5–8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data strategy aligned to business priorities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operating model for Data Office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framework &amp; decision rights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roadmap (rationalise vs. invest)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framework with measurable KPIs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217920" y="2011680"/>
            <a:ext cx="2560320" cy="2651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22" name="Shape 20"/>
          <p:cNvSpPr/>
          <p:nvPr/>
        </p:nvSpPr>
        <p:spPr>
          <a:xfrm>
            <a:off x="6217920" y="2011680"/>
            <a:ext cx="256032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23" name="Text 21"/>
          <p:cNvSpPr/>
          <p:nvPr/>
        </p:nvSpPr>
        <p:spPr>
          <a:xfrm>
            <a:off x="6355080" y="2148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55080" y="2377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355080" y="27889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use-case delivery (2–3 quick wins)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improvement on critical datasets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operationalised (stewards, councils)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progress report</a:t>
            </a:r>
            <a:endParaRPr lang="en-US" sz="850" dirty="0"/>
          </a:p>
          <a:p>
            <a:pPr marL="342900" indent="-342900">
              <a:lnSpc>
                <a:spcPct val="140000"/>
              </a:lnSpc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plan to BAU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29184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08076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work with you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" y="155448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3840480" cy="54864"/>
          </a:xfrm>
          <a:prstGeom prst="rect">
            <a:avLst/>
          </a:prstGeom>
          <a:solidFill>
            <a:srgbClr val="006B5E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2" name="Text 10"/>
          <p:cNvSpPr/>
          <p:nvPr/>
        </p:nvSpPr>
        <p:spPr>
          <a:xfrm>
            <a:off x="82296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bring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20574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practitioners — not a pyramid of juniors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delivery — we sit inside your programme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Outcome-driven — tied to measurable business KPIs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8–12 week sprints — no open-ended retainers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fluency — CBB, SAMA, NDMO, PDPL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Gulf FS specialisation — banking, capital markets, insurance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55448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AE"/>
          </a:p>
        </p:txBody>
      </p:sp>
      <p:sp>
        <p:nvSpPr>
          <p:cNvPr id="15" name="Shape 13"/>
          <p:cNvSpPr/>
          <p:nvPr/>
        </p:nvSpPr>
        <p:spPr>
          <a:xfrm>
            <a:off x="4663440" y="1554480"/>
            <a:ext cx="3840480" cy="54864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6" name="Text 14"/>
          <p:cNvSpPr/>
          <p:nvPr/>
        </p:nvSpPr>
        <p:spPr>
          <a:xfrm>
            <a:off x="4846320" y="1691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20574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data strategy aligned to KFH business priorities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operating model for the Data Office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framework with clear ownership and decision rights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quick-win data products delivered in 90 days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roadmap — keep, rationalise, or invest</a:t>
            </a:r>
            <a:endParaRPr lang="en-US" sz="1000" dirty="0"/>
          </a:p>
          <a:p>
            <a:pPr marL="342900" indent="-342900">
              <a:lnSpc>
                <a:spcPct val="15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progress report and benefits tracker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-457200"/>
            <a:ext cx="6400800" cy="6400800"/>
          </a:xfrm>
          <a:prstGeom prst="ellipse">
            <a:avLst/>
          </a:prstGeom>
          <a:solidFill>
            <a:srgbClr val="006B5E">
              <a:alpha val="8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</a:t>
            </a:r>
            <a:r>
              <a:rPr lang="en-US" sz="14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 is a boutique advisory firm for Gulf financial services institutions that want senior practitioners embedded in the work — not a pyramid of juniors writing slides.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bring a network of experienced consultants and subject matter experts across banking, capital markets, and insurance — with deep expertise in data strategy, AI governance, and business transformation.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in Industry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468880" y="3749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46888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Gulf markets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0" y="37490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6B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9768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Regulators engaged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6B5E">
              <a:alpha val="30000"/>
            </a:srgbClr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13" name="Text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advisor@rodney-ai.com  |  rodney-ai.com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3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6B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777240"/>
            <a:ext cx="548640" cy="0"/>
          </a:xfrm>
          <a:prstGeom prst="line">
            <a:avLst/>
          </a:prstGeom>
          <a:noFill/>
          <a:ln w="25400">
            <a:solidFill>
              <a:srgbClr val="006B5E"/>
            </a:solidFill>
            <a:prstDash val="solid"/>
          </a:ln>
        </p:spPr>
        <p:txBody>
          <a:bodyPr/>
          <a:lstStyle/>
          <a:p>
            <a:endParaRPr lang="en-AE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the team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1B2A"/>
          </a:solidFill>
          <a:ln/>
        </p:spPr>
        <p:txBody>
          <a:bodyPr/>
          <a:lstStyle/>
          <a:p>
            <a:endParaRPr lang="en-AE"/>
          </a:p>
        </p:txBody>
      </p:sp>
      <p:sp>
        <p:nvSpPr>
          <p:cNvPr id="8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89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Enterprise.AI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5E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pic>
        <p:nvPicPr>
          <p:cNvPr id="10" name="Image 0" descr="/sessions/cool-elegant-cori/rodney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406" y="3012980"/>
            <a:ext cx="1005840" cy="1005840"/>
          </a:xfrm>
          <a:prstGeom prst="ellipse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202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Rodney Coutinho  |  Founder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920240" y="196596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Partner-level AI and data advisory across Deloitte, EY, and global exchanges. 25+ years building, governing, and scaling AI and data platforms in financial services — from trading surveillance systems to sovereign AI programmes across the Gulf and UK. Board-level advisory on AI and Data strategy, governance, and enterprise adoption in the Middle East.</a:t>
            </a:r>
            <a:endParaRPr lang="en-US" sz="1000" dirty="0"/>
          </a:p>
        </p:txBody>
      </p:sp>
      <p:pic>
        <p:nvPicPr>
          <p:cNvPr id="13" name="Image 1" descr="/sessions/cool-elegant-cori/stephen_photo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406" y="1645920"/>
            <a:ext cx="1005840" cy="1005840"/>
          </a:xfrm>
          <a:prstGeom prst="ellipse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9202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Stephen Yeung  |  Partner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920240" y="333756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leader in data and AI strategy, governance, and business transformation, with 20+ years advisory experience across global banking and wealth management. Senior data leadership roles at Fidelity and HSBC, helping organisations build data-driven capabilities and deliver complex transformation across financial services.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1146</Words>
  <Application>Microsoft Office PowerPoint</Application>
  <PresentationFormat>On-screen Show (16:9)</PresentationFormat>
  <Paragraphs>204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KFH Bahrain — Data Remediation &amp; Transformation</dc:title>
  <dc:subject>PptxGenJS Presentation</dc:subject>
  <dc:creator>Enterprise.AI</dc:creator>
  <cp:lastModifiedBy>Rodney Coutinho</cp:lastModifiedBy>
  <cp:revision>1</cp:revision>
  <dcterms:created xsi:type="dcterms:W3CDTF">2026-05-12T04:55:19Z</dcterms:created>
  <dcterms:modified xsi:type="dcterms:W3CDTF">2026-05-12T05:05:16Z</dcterms:modified>
</cp:coreProperties>
</file>