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P&amp;L Impact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Cost Reduction</c:v>
                  </c:pt>
                  <c:pt idx="1">
                    <c:v>Revenue Enhancement</c:v>
                  </c:pt>
                  <c:pt idx="2">
                    <c:v>Risk Mitigation</c:v>
                  </c:pt>
                  <c:pt idx="3">
                    <c:v>Total Impact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85</c:v>
                </c:pt>
                <c:pt idx="2">
                  <c:v>45</c:v>
                </c:pt>
                <c:pt idx="3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Tech/Infrastructure</c:v>
                  </c:pt>
                  <c:pt idx="1">
                    <c:v>Talent &amp; Training</c:v>
                  </c:pt>
                  <c:pt idx="2">
                    <c:v>Consulting</c:v>
                  </c:pt>
                  <c:pt idx="3">
                    <c:v>Operations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28</c:v>
                </c:pt>
                <c:pt idx="2">
                  <c:v>22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2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Tech/Infrastructure</c:v>
                  </c:pt>
                  <c:pt idx="1">
                    <c:v>Talent &amp; Training</c:v>
                  </c:pt>
                  <c:pt idx="2">
                    <c:v>Consulting</c:v>
                  </c:pt>
                  <c:pt idx="3">
                    <c:v>Operations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40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Year 3</c:v>
                </c:pt>
              </c:strCache>
            </c:strRef>
          </c:tx>
          <c:spPr>
            <a:solidFill>
              <a:srgbClr val="6B8C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Tech/Infrastructure</c:v>
                  </c:pt>
                  <c:pt idx="1">
                    <c:v>Talent &amp; Training</c:v>
                  </c:pt>
                  <c:pt idx="2">
                    <c:v>Consulting</c:v>
                  </c:pt>
                  <c:pt idx="3">
                    <c:v>Operations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</c:v>
                </c:pt>
                <c:pt idx="1">
                  <c:v>35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AI Briefing Pack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 Name] AI Strategy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Board Briefing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[INSERT DATE]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Board Members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Opportunity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[Quantified market opportunity and competitive imperative]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[Maturity level, strengths, and key capability gaps]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 Framework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appetite, regulatory requirements, governance structure]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Plan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9184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[Priority initiatives, investment, and timeline]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Context: AI in Banking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AI Market Value in FS by 2030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ROE Uplift Opportunity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Cost/Income Improvement Target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74320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Bank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 Maturity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Key Initiatives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ROE Impact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DBS Bank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Leader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End-to-end automation, Gen AI platforms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+3.2%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JPMorgan Chase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Leader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COIN, proprietary LLMs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+2.8%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UBS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Advanced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Risk AI, wealth management AI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+2.1%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[This Bank]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[Current Level]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[Current Initiatives]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[To Achieve]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Sizing: P&amp;L Impact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943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188720"/>
            <a:ext cx="2103120" cy="7315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75120" y="15819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75120" y="2103120"/>
            <a:ext cx="2103120" cy="7315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21762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75120" y="24963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75120" y="3017520"/>
            <a:ext cx="2103120" cy="7315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30906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75120" y="34107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Maturity Assessment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737360"/>
                <a:gridCol w="1737360"/>
              </a:tblGrid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Strategy &amp; Governance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&amp; Infrastructure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Talent &amp; Capabilities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 Case Portfolio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Operating Model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Risk &amp; 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Level 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566160"/>
            <a:ext cx="4114800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657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data foundation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AI awareness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PoCs underway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548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solidFill>
            <a:srgbClr val="E8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3657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AI CoE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AI talent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Portfolio: Prioritization Matrix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" y="2011680"/>
            <a:ext cx="18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005840"/>
            <a:ext cx="3474720" cy="2011680"/>
          </a:xfrm>
          <a:prstGeom prst="rect">
            <a:avLst/>
          </a:prstGeom>
          <a:solidFill>
            <a:srgbClr val="F0F0F0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005840"/>
            <a:ext cx="0" cy="201168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14400" y="2011680"/>
            <a:ext cx="34747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88720" y="118872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118872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1325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8720" y="219456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68880" y="219456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45920" y="2743200"/>
            <a:ext cx="731520" cy="731520"/>
          </a:xfrm>
          <a:prstGeom prst="ellipse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Wins: Priority 1 (3-6 months)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3931920" cy="2011680"/>
        </p:xfrm>
        <a:graphic>
          <a:graphicData uri="http://schemas.openxmlformats.org/drawingml/2006/table">
            <a:tbl>
              <a:tblPr/>
              <a:tblGrid>
                <a:gridCol w="594360"/>
                <a:gridCol w="1691640"/>
                <a:gridCol w="868680"/>
                <a:gridCol w="77724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Implementation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KYC Automation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$45M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 months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Fraud Detection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$65M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 months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Gen AI Service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$52M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 months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Portfolio Analytics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$38M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 months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Credit Risk AI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$42M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 months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 Framework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 Definition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9144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&amp; Bias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9144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83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9144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94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9144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060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91440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175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Governance Structure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AI Committee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66420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oversight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8653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06654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approval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393192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606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CoE Steering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8529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governance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05409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prioritization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2552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tracking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794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40416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2428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Bias/fairness 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44439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control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Landscape &amp; Compliance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Regulation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Requirement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Our Approach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SR 11-7 (US)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Model risk governance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Board oversight, independent review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SS1/23 (ECB)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 governance framework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CoE with risk/compliance integration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NIST AI RMF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Risk management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Four-phase assessment &amp; mitigation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EU AI Act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High-risk classification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Transparency, audit trails, testing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SAMA/CMA KSA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 AI governance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Compliance matrix, quarterly reporting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Roadmap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023360"/>
            <a:ext cx="192024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069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framework, Risk policies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4023360"/>
            <a:ext cx="192024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8"/>
          <p:cNvSpPr/>
          <p:nvPr/>
        </p:nvSpPr>
        <p:spPr>
          <a:xfrm>
            <a:off x="2651760" y="4069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51760" y="4315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assessment, Security baseline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4023360"/>
            <a:ext cx="192024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4069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4315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validation, Audit readiness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66560" y="4023360"/>
            <a:ext cx="1920240" cy="8229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0" y="4069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0" y="4315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compliance, Board attestation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Model: CoE Structure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Staffing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11480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371600"/>
              </a:tblGrid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Reporting To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CoE Director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Chief Data Officer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ML Engineers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8-10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CoE Director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Data Scientists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6-8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CoE Director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AI Product Mgrs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4-5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CoE Director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Risk/Compliance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2-3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Chief Risk Officer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22-30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Mixed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Partnership Strategy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931920" cy="685800"/>
          </a:xfrm>
          <a:prstGeom prst="rect">
            <a:avLst/>
          </a:prstGeom>
          <a:solidFill>
            <a:srgbClr val="E8E8E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3898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161848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GCP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37760" y="1801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LLMs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2240280"/>
            <a:ext cx="3931920" cy="685800"/>
          </a:xfrm>
          <a:prstGeom prst="rect">
            <a:avLst/>
          </a:prstGeom>
          <a:solidFill>
            <a:srgbClr val="E8E8E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2585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24871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Databricks, Palantir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37760" y="26700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ML platforms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3108960"/>
            <a:ext cx="3931920" cy="685800"/>
          </a:xfrm>
          <a:prstGeom prst="rect">
            <a:avLst/>
          </a:prstGeom>
          <a:solidFill>
            <a:srgbClr val="E8E8E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3127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37760" y="335584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Enterprise.AI, Deloitte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37760" y="35387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implementation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Profile: 3-Year Plan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943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097280"/>
            <a:ext cx="2103120" cy="777240"/>
          </a:xfrm>
          <a:prstGeom prst="rect">
            <a:avLst/>
          </a:prstGeom>
          <a:solidFill>
            <a:srgbClr val="0D1B2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1704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$85-105M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76656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3-Year Investment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75120" y="2011680"/>
            <a:ext cx="2103120" cy="777240"/>
          </a:xfrm>
          <a:prstGeom prst="rect">
            <a:avLst/>
          </a:prstGeom>
          <a:solidFill>
            <a:srgbClr val="0D1B2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20848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66560" y="2423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 Returns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75120" y="2926080"/>
            <a:ext cx="2103120" cy="777240"/>
          </a:xfrm>
          <a:prstGeom prst="rect">
            <a:avLst/>
          </a:prstGeom>
          <a:solidFill>
            <a:srgbClr val="0D1B2A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999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$580M+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66560" y="3337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(@ 10% discount)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Analysis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investments in infrastructure and talent lay foundation. Year 2 shows ROI from initial use cases. Year 3 reaches full payback as portfolio scales. Cumulative 3-year ROI: 280%.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 90-Day to 12-Month Plan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2743200"/>
          </a:xfrm>
          <a:prstGeom prst="rect">
            <a:avLst/>
          </a:prstGeom>
          <a:solidFill>
            <a:srgbClr val="E8E8E8"/>
          </a:solidFill>
          <a:ln w="25400">
            <a:solidFill>
              <a:srgbClr val="1B4F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1-90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 CoE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framework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vendor partnerships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097280"/>
            <a:ext cx="2743200" cy="2743200"/>
          </a:xfrm>
          <a:prstGeom prst="rect">
            <a:avLst/>
          </a:prstGeom>
          <a:solidFill>
            <a:srgbClr val="E8E8E8"/>
          </a:solidFill>
          <a:ln w="254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097280"/>
            <a:ext cx="27432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2-3 quick wins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CoE team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monitoring/governance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097280"/>
            <a:ext cx="2743200" cy="2743200"/>
          </a:xfrm>
          <a:prstGeom prst="rect">
            <a:avLst/>
          </a:prstGeom>
          <a:solidFill>
            <a:srgbClr val="E8E8E8"/>
          </a:solidFill>
          <a:ln w="25400">
            <a:solidFill>
              <a:srgbClr val="1B4F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097280"/>
            <a:ext cx="27432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use cases live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ROI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Year 2 scaling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Board Decisions Required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E8E8E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$85-105M 3-year investment program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CoE establishment and staffing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use case prioritization and execution governance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Discussion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Discussion Topics for the 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3152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appetite and governance framework alignment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timing and phasing strategy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73152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acquisition and retention plan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73152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response timeline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73152" cy="228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and board-level KPIs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0233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decision on strategic direction &amp; investment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3434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100-day planning with executives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6634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RFP and partnership agreements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9834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 leadership recruitment begins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451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Contact: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rodney@theenterpriseai.co.uk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Enterprise.AI AI Advisory Practice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AI Briefing Pack Template</dc:title>
  <dc:subject>PptxGenJS Presentation</dc:subject>
  <dc:creator>Enterprise.AI</dc:creator>
  <cp:lastModifiedBy>Enterprise.AI</cp:lastModifiedBy>
  <cp:revision>1</cp:revision>
  <dcterms:created xsi:type="dcterms:W3CDTF">2026-08-15T23:22:16Z</dcterms:created>
  <dcterms:modified xsi:type="dcterms:W3CDTF">2026-08-15T23:22:16Z</dcterms:modified>
</cp:coreProperties>
</file>